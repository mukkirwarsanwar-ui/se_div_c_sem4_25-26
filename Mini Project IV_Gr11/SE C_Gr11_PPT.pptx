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22"/>
  </p:notesMasterIdLst>
  <p:sldIdLst>
    <p:sldId id="256" r:id="rId2"/>
    <p:sldId id="270" r:id="rId3"/>
    <p:sldId id="258" r:id="rId4"/>
    <p:sldId id="279" r:id="rId5"/>
    <p:sldId id="275" r:id="rId6"/>
    <p:sldId id="266" r:id="rId7"/>
    <p:sldId id="278" r:id="rId8"/>
    <p:sldId id="261" r:id="rId9"/>
    <p:sldId id="277" r:id="rId10"/>
    <p:sldId id="267" r:id="rId11"/>
    <p:sldId id="262" r:id="rId12"/>
    <p:sldId id="282" r:id="rId13"/>
    <p:sldId id="269" r:id="rId14"/>
    <p:sldId id="272" r:id="rId15"/>
    <p:sldId id="280" r:id="rId16"/>
    <p:sldId id="281" r:id="rId17"/>
    <p:sldId id="265" r:id="rId18"/>
    <p:sldId id="274" r:id="rId19"/>
    <p:sldId id="268" r:id="rId20"/>
    <p:sldId id="260" r:id="rId21"/>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632" autoAdjust="0"/>
  </p:normalViewPr>
  <p:slideViewPr>
    <p:cSldViewPr>
      <p:cViewPr varScale="1">
        <p:scale>
          <a:sx n="63" d="100"/>
          <a:sy n="63" d="100"/>
        </p:scale>
        <p:origin x="1196" y="64"/>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0DFCF012-05C8-F49D-591F-3EAA4A7774B7}"/>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69F318D1-41C0-C660-5D46-4433FA005459}"/>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1CBC1BF0-E410-CC08-DCF9-F50FA5682DA9}"/>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A4F0C705-B64A-F147-E44E-82285902BA24}"/>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8F9F7DB6-7B98-3A8C-A53C-2D5173E09EAE}"/>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A8D115EA-1622-4DC9-2AD7-33B62F79C4C7}"/>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5927CB92-31DD-4688-A2EB-E77128E380A8}"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6F0C0034-5F21-AF24-1DDF-0B82A2F24A0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6785D830-FD9D-434D-B32E-1D70DCDA12C3}" type="slidenum">
              <a:rPr lang="en-IN" altLang="en-US" sz="1400" smtClean="0"/>
              <a:pPr fontAlgn="base">
                <a:spcBef>
                  <a:spcPct val="0"/>
                </a:spcBef>
                <a:spcAft>
                  <a:spcPct val="0"/>
                </a:spcAft>
              </a:pPr>
              <a:t>1</a:t>
            </a:fld>
            <a:endParaRPr lang="en-IN" altLang="en-US" sz="1400"/>
          </a:p>
        </p:txBody>
      </p:sp>
      <p:sp>
        <p:nvSpPr>
          <p:cNvPr id="7171" name="Rectangle 1">
            <a:extLst>
              <a:ext uri="{FF2B5EF4-FFF2-40B4-BE49-F238E27FC236}">
                <a16:creationId xmlns:a16="http://schemas.microsoft.com/office/drawing/2014/main" id="{86BA040B-43B0-DAD8-4A9C-D15D0BEE7D7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a:extLst>
              <a:ext uri="{FF2B5EF4-FFF2-40B4-BE49-F238E27FC236}">
                <a16:creationId xmlns:a16="http://schemas.microsoft.com/office/drawing/2014/main" id="{A24241A4-7969-C825-7CF8-C336C79A9510}"/>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DB7B136F-B2DB-28DA-24A6-6E91D63BBA6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44AC7F6-6AC1-4F6B-A97D-0AC452CA929B}" type="slidenum">
              <a:rPr lang="en-IN" altLang="en-US" sz="1400" smtClean="0"/>
              <a:pPr fontAlgn="base">
                <a:spcBef>
                  <a:spcPct val="0"/>
                </a:spcBef>
                <a:spcAft>
                  <a:spcPct val="0"/>
                </a:spcAft>
              </a:pPr>
              <a:t>2</a:t>
            </a:fld>
            <a:endParaRPr lang="en-IN" altLang="en-US" sz="1400"/>
          </a:p>
        </p:txBody>
      </p:sp>
      <p:sp>
        <p:nvSpPr>
          <p:cNvPr id="9219" name="Rectangle 1">
            <a:extLst>
              <a:ext uri="{FF2B5EF4-FFF2-40B4-BE49-F238E27FC236}">
                <a16:creationId xmlns:a16="http://schemas.microsoft.com/office/drawing/2014/main" id="{ABF06AEA-FC38-D516-F1B9-790D62621B1D}"/>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B773A3C0-E3DB-C33F-2DE4-F15FC6CD408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B588C3D2-83B7-65F8-49C0-6CB741F8FDB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D54073F6-EAA8-4FB8-A0B3-D9660FCE5E3C}" type="slidenum">
              <a:rPr lang="en-IN" altLang="en-US" sz="1400" smtClean="0"/>
              <a:pPr fontAlgn="base">
                <a:spcBef>
                  <a:spcPct val="0"/>
                </a:spcBef>
                <a:spcAft>
                  <a:spcPct val="0"/>
                </a:spcAft>
              </a:pPr>
              <a:t>3</a:t>
            </a:fld>
            <a:endParaRPr lang="en-IN" altLang="en-US" sz="1400"/>
          </a:p>
        </p:txBody>
      </p:sp>
      <p:sp>
        <p:nvSpPr>
          <p:cNvPr id="11267" name="Rectangle 1">
            <a:extLst>
              <a:ext uri="{FF2B5EF4-FFF2-40B4-BE49-F238E27FC236}">
                <a16:creationId xmlns:a16="http://schemas.microsoft.com/office/drawing/2014/main" id="{E420812C-D2E2-CECA-3388-72A43E3DB526}"/>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829FD0DC-1C89-737F-588C-874245A5FE3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507DB388-4E9A-CDCD-7742-D30DBC00ED7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D7D80C6C-0185-438B-940D-CC7832945EFA}" type="slidenum">
              <a:rPr lang="en-IN" altLang="en-US" sz="1400" smtClean="0"/>
              <a:pPr fontAlgn="base">
                <a:spcBef>
                  <a:spcPct val="0"/>
                </a:spcBef>
                <a:spcAft>
                  <a:spcPct val="0"/>
                </a:spcAft>
              </a:pPr>
              <a:t>5</a:t>
            </a:fld>
            <a:endParaRPr lang="en-IN" altLang="en-US" sz="1400"/>
          </a:p>
        </p:txBody>
      </p:sp>
      <p:sp>
        <p:nvSpPr>
          <p:cNvPr id="14339" name="Rectangle 1">
            <a:extLst>
              <a:ext uri="{FF2B5EF4-FFF2-40B4-BE49-F238E27FC236}">
                <a16:creationId xmlns:a16="http://schemas.microsoft.com/office/drawing/2014/main" id="{F55E8DA7-BA4D-AFF8-B0E9-EF7AF022F25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Rectangle 2">
            <a:extLst>
              <a:ext uri="{FF2B5EF4-FFF2-40B4-BE49-F238E27FC236}">
                <a16:creationId xmlns:a16="http://schemas.microsoft.com/office/drawing/2014/main" id="{F98EC86D-6332-31AF-9F54-B9F23F22A67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6A016B14-F82E-BE4B-F58C-72BECCEFBC5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B68A3308-632E-4659-83CD-2DBB8025E94F}" type="slidenum">
              <a:rPr lang="en-IN" altLang="en-US" sz="1400" smtClean="0"/>
              <a:pPr fontAlgn="base">
                <a:spcBef>
                  <a:spcPct val="0"/>
                </a:spcBef>
                <a:spcAft>
                  <a:spcPct val="0"/>
                </a:spcAft>
              </a:pPr>
              <a:t>6</a:t>
            </a:fld>
            <a:endParaRPr lang="en-IN" altLang="en-US" sz="1400"/>
          </a:p>
        </p:txBody>
      </p:sp>
      <p:sp>
        <p:nvSpPr>
          <p:cNvPr id="16387" name="Rectangle 1">
            <a:extLst>
              <a:ext uri="{FF2B5EF4-FFF2-40B4-BE49-F238E27FC236}">
                <a16:creationId xmlns:a16="http://schemas.microsoft.com/office/drawing/2014/main" id="{5222883F-6B3C-D128-4AC3-10B35B93DF1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Rectangle 2">
            <a:extLst>
              <a:ext uri="{FF2B5EF4-FFF2-40B4-BE49-F238E27FC236}">
                <a16:creationId xmlns:a16="http://schemas.microsoft.com/office/drawing/2014/main" id="{99CE99C7-8572-0559-B5B5-182B5487B76C}"/>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5D1CE979-CDFC-8BD2-FF6D-6A29549BD89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3052B48-777E-47A6-A47A-42C8BB07DB5E}" type="slidenum">
              <a:rPr lang="en-IN" altLang="en-US" sz="1400" smtClean="0"/>
              <a:pPr fontAlgn="base">
                <a:spcBef>
                  <a:spcPct val="0"/>
                </a:spcBef>
                <a:spcAft>
                  <a:spcPct val="0"/>
                </a:spcAft>
              </a:pPr>
              <a:t>8</a:t>
            </a:fld>
            <a:endParaRPr lang="en-IN" altLang="en-US" sz="1400"/>
          </a:p>
        </p:txBody>
      </p:sp>
      <p:sp>
        <p:nvSpPr>
          <p:cNvPr id="20483" name="Rectangle 1">
            <a:extLst>
              <a:ext uri="{FF2B5EF4-FFF2-40B4-BE49-F238E27FC236}">
                <a16:creationId xmlns:a16="http://schemas.microsoft.com/office/drawing/2014/main" id="{901A5BAB-9B2E-2602-6FA8-5C4036A318C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4E46EE3A-2AD9-6A17-A3F3-0867E2375AA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a:extLst>
              <a:ext uri="{FF2B5EF4-FFF2-40B4-BE49-F238E27FC236}">
                <a16:creationId xmlns:a16="http://schemas.microsoft.com/office/drawing/2014/main" id="{3A28A8FD-D498-76CA-828C-49B722A6B4D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FAF764B-3A05-4631-9234-23AD9F7F3377}" type="slidenum">
              <a:rPr lang="en-IN" altLang="en-US" sz="1400" smtClean="0"/>
              <a:pPr fontAlgn="base">
                <a:spcBef>
                  <a:spcPct val="0"/>
                </a:spcBef>
                <a:spcAft>
                  <a:spcPct val="0"/>
                </a:spcAft>
              </a:pPr>
              <a:t>11</a:t>
            </a:fld>
            <a:endParaRPr lang="en-IN" altLang="en-US" sz="1400"/>
          </a:p>
        </p:txBody>
      </p:sp>
      <p:sp>
        <p:nvSpPr>
          <p:cNvPr id="23555" name="Rectangle 1">
            <a:extLst>
              <a:ext uri="{FF2B5EF4-FFF2-40B4-BE49-F238E27FC236}">
                <a16:creationId xmlns:a16="http://schemas.microsoft.com/office/drawing/2014/main" id="{B6283361-4B7D-85C0-D4B6-F71F919AABE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6EFFEF30-ADD1-FC86-B871-CAFD18683AD6}"/>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23228087-B0B5-B68B-FD87-9513952CAB8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B60246B-DF68-4850-94B6-EB9C8788D607}" type="slidenum">
              <a:rPr lang="en-IN" altLang="en-US" sz="1400" smtClean="0"/>
              <a:pPr fontAlgn="base">
                <a:spcBef>
                  <a:spcPct val="0"/>
                </a:spcBef>
                <a:spcAft>
                  <a:spcPct val="0"/>
                </a:spcAft>
              </a:pPr>
              <a:t>14</a:t>
            </a:fld>
            <a:endParaRPr lang="en-IN" altLang="en-US" sz="1400"/>
          </a:p>
        </p:txBody>
      </p:sp>
      <p:sp>
        <p:nvSpPr>
          <p:cNvPr id="26627" name="Rectangle 1">
            <a:extLst>
              <a:ext uri="{FF2B5EF4-FFF2-40B4-BE49-F238E27FC236}">
                <a16:creationId xmlns:a16="http://schemas.microsoft.com/office/drawing/2014/main" id="{BD721862-D381-6D41-547B-582B3C05744D}"/>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Rectangle 2">
            <a:extLst>
              <a:ext uri="{FF2B5EF4-FFF2-40B4-BE49-F238E27FC236}">
                <a16:creationId xmlns:a16="http://schemas.microsoft.com/office/drawing/2014/main" id="{177A2D8C-BB74-527B-7E63-2AF0C43FF38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2CC36DE8-2641-574C-DDC6-F403063E42F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2E50D928-7DF3-4550-B42F-F3203A21E4A3}" type="slidenum">
              <a:rPr lang="en-IN" altLang="en-US" sz="1400" smtClean="0"/>
              <a:pPr fontAlgn="base">
                <a:spcBef>
                  <a:spcPct val="0"/>
                </a:spcBef>
                <a:spcAft>
                  <a:spcPct val="0"/>
                </a:spcAft>
              </a:pPr>
              <a:t>17</a:t>
            </a:fld>
            <a:endParaRPr lang="en-IN" altLang="en-US" sz="1400"/>
          </a:p>
        </p:txBody>
      </p:sp>
      <p:sp>
        <p:nvSpPr>
          <p:cNvPr id="30723" name="Rectangle 1">
            <a:extLst>
              <a:ext uri="{FF2B5EF4-FFF2-40B4-BE49-F238E27FC236}">
                <a16:creationId xmlns:a16="http://schemas.microsoft.com/office/drawing/2014/main" id="{0369A19E-4D69-E48E-B3C7-8483CADEA215}"/>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D22C83B4-6B71-ECB8-E023-191F81F0F609}"/>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62BD8265-AB63-8971-A602-BC590289D11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5494C4B4-89EB-443A-9D38-9655A771BB40}" type="slidenum">
              <a:rPr lang="en-IN" altLang="en-US" sz="1400" smtClean="0"/>
              <a:pPr fontAlgn="base">
                <a:spcBef>
                  <a:spcPct val="0"/>
                </a:spcBef>
                <a:spcAft>
                  <a:spcPct val="0"/>
                </a:spcAft>
              </a:pPr>
              <a:t>18</a:t>
            </a:fld>
            <a:endParaRPr lang="en-IN" altLang="en-US" sz="1400"/>
          </a:p>
        </p:txBody>
      </p:sp>
      <p:sp>
        <p:nvSpPr>
          <p:cNvPr id="32771" name="Rectangle 1">
            <a:extLst>
              <a:ext uri="{FF2B5EF4-FFF2-40B4-BE49-F238E27FC236}">
                <a16:creationId xmlns:a16="http://schemas.microsoft.com/office/drawing/2014/main" id="{53CF5013-9221-D232-4819-3B12FB2492F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2" name="Rectangle 2">
            <a:extLst>
              <a:ext uri="{FF2B5EF4-FFF2-40B4-BE49-F238E27FC236}">
                <a16:creationId xmlns:a16="http://schemas.microsoft.com/office/drawing/2014/main" id="{7281D6F2-6B2A-F7FC-2B7D-2D2E97CDB0D3}"/>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34CE67D7-607B-0D6D-B508-35F0DD0C561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4EEED2B-DD6C-4FFF-B2B1-011AEBF34C48}" type="slidenum">
              <a:rPr lang="en-IN" altLang="en-US" sz="1400" smtClean="0"/>
              <a:pPr fontAlgn="base">
                <a:spcBef>
                  <a:spcPct val="0"/>
                </a:spcBef>
                <a:spcAft>
                  <a:spcPct val="0"/>
                </a:spcAft>
              </a:pPr>
              <a:t>19</a:t>
            </a:fld>
            <a:endParaRPr lang="en-IN" altLang="en-US" sz="1400"/>
          </a:p>
        </p:txBody>
      </p:sp>
      <p:sp>
        <p:nvSpPr>
          <p:cNvPr id="34819" name="Rectangle 1">
            <a:extLst>
              <a:ext uri="{FF2B5EF4-FFF2-40B4-BE49-F238E27FC236}">
                <a16:creationId xmlns:a16="http://schemas.microsoft.com/office/drawing/2014/main" id="{DE843C69-9888-E35C-98D8-C43AE7134EC0}"/>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0" name="Rectangle 2">
            <a:extLst>
              <a:ext uri="{FF2B5EF4-FFF2-40B4-BE49-F238E27FC236}">
                <a16:creationId xmlns:a16="http://schemas.microsoft.com/office/drawing/2014/main" id="{327C20BE-F567-88B0-D61B-C47E94FBDD1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9F9B864F-10FB-5831-2DA0-F817D223201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0B5676C-5B3B-4DF2-A723-C7766AB84A4E}" type="slidenum">
              <a:rPr lang="en-IN" altLang="en-US" sz="1400" smtClean="0"/>
              <a:pPr fontAlgn="base">
                <a:spcBef>
                  <a:spcPct val="0"/>
                </a:spcBef>
                <a:spcAft>
                  <a:spcPct val="0"/>
                </a:spcAft>
              </a:pPr>
              <a:t>20</a:t>
            </a:fld>
            <a:endParaRPr lang="en-IN" altLang="en-US" sz="1400"/>
          </a:p>
        </p:txBody>
      </p:sp>
      <p:sp>
        <p:nvSpPr>
          <p:cNvPr id="36867" name="Rectangle 1">
            <a:extLst>
              <a:ext uri="{FF2B5EF4-FFF2-40B4-BE49-F238E27FC236}">
                <a16:creationId xmlns:a16="http://schemas.microsoft.com/office/drawing/2014/main" id="{A6D4CC88-0157-A83F-3395-1258C187CB5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8" name="Rectangle 2">
            <a:extLst>
              <a:ext uri="{FF2B5EF4-FFF2-40B4-BE49-F238E27FC236}">
                <a16:creationId xmlns:a16="http://schemas.microsoft.com/office/drawing/2014/main" id="{6F2001FA-34CB-C679-D4BE-AFB7B4D40E83}"/>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F90F94D6-AB4B-3559-63DE-B11D42BD76AE}"/>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C931F80A-4D0A-79F2-4133-5B72CE272EA5}"/>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76B68C5-970E-CD5B-45AE-897D212F7C50}"/>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9A297112-8B9A-8EC6-3477-0D390C551A72}"/>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2B1A5F5C-9751-701D-FA05-70555898662A}"/>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60D76C2D-7C27-1253-5667-D28031127DFE}"/>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3E58D245-ED79-9292-DB82-B30E367C1C01}"/>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A7BCB10D-E033-579E-337B-0C1CF2CF5AC0}"/>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E5F13BFB-66DC-01DD-D0B4-337E6034AB49}"/>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41CD97C0-A41D-868F-4013-BD51C517941D}"/>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2B720C85-A6B7-5E5D-11A5-4B4150DC36CD}"/>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757180FF-5980-96AB-BDD6-BD8E1CC62A44}"/>
              </a:ext>
            </a:extLst>
          </p:cNvPr>
          <p:cNvSpPr>
            <a:spLocks noGrp="1"/>
          </p:cNvSpPr>
          <p:nvPr>
            <p:ph type="dt" sz="half" idx="10"/>
          </p:nvPr>
        </p:nvSpPr>
        <p:spPr/>
        <p:txBody>
          <a:bodyPr/>
          <a:lstStyle>
            <a:lvl1pPr>
              <a:defRPr/>
            </a:lvl1pPr>
          </a:lstStyle>
          <a:p>
            <a:pPr>
              <a:defRPr/>
            </a:pPr>
            <a:fld id="{8193E9B5-81B0-4B36-8D95-50C30D83ED46}" type="datetimeFigureOut">
              <a:rPr lang="en-US"/>
              <a:pPr>
                <a:defRPr/>
              </a:pPr>
              <a:t>3/19/2026</a:t>
            </a:fld>
            <a:endParaRPr lang="en-US" dirty="0"/>
          </a:p>
        </p:txBody>
      </p:sp>
      <p:sp>
        <p:nvSpPr>
          <p:cNvPr id="16" name="Footer Placeholder 4">
            <a:extLst>
              <a:ext uri="{FF2B5EF4-FFF2-40B4-BE49-F238E27FC236}">
                <a16:creationId xmlns:a16="http://schemas.microsoft.com/office/drawing/2014/main" id="{25682F83-216C-AF21-778B-D6E808488833}"/>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68C97C94-5CF6-DEFE-4AE1-FF20E3BCEF1D}"/>
              </a:ext>
            </a:extLst>
          </p:cNvPr>
          <p:cNvSpPr>
            <a:spLocks noGrp="1"/>
          </p:cNvSpPr>
          <p:nvPr>
            <p:ph type="sldNum" sz="quarter" idx="12"/>
          </p:nvPr>
        </p:nvSpPr>
        <p:spPr/>
        <p:txBody>
          <a:bodyPr/>
          <a:lstStyle>
            <a:lvl1pPr>
              <a:defRPr/>
            </a:lvl1pPr>
          </a:lstStyle>
          <a:p>
            <a:pPr>
              <a:defRPr/>
            </a:pPr>
            <a:fld id="{E30DA1D4-17B6-4D96-8D38-06F79FA13981}" type="slidenum">
              <a:rPr lang="en-US"/>
              <a:pPr>
                <a:defRPr/>
              </a:pPr>
              <a:t>‹#›</a:t>
            </a:fld>
            <a:endParaRPr lang="en-US" dirty="0"/>
          </a:p>
        </p:txBody>
      </p:sp>
    </p:spTree>
    <p:extLst>
      <p:ext uri="{BB962C8B-B14F-4D97-AF65-F5344CB8AC3E}">
        <p14:creationId xmlns:p14="http://schemas.microsoft.com/office/powerpoint/2010/main" val="314329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4914C-82B8-7DF5-6E75-CF46F7787428}"/>
              </a:ext>
            </a:extLst>
          </p:cNvPr>
          <p:cNvSpPr>
            <a:spLocks noGrp="1"/>
          </p:cNvSpPr>
          <p:nvPr>
            <p:ph type="dt" sz="half" idx="10"/>
          </p:nvPr>
        </p:nvSpPr>
        <p:spPr/>
        <p:txBody>
          <a:bodyPr/>
          <a:lstStyle>
            <a:lvl1pPr>
              <a:defRPr/>
            </a:lvl1pPr>
          </a:lstStyle>
          <a:p>
            <a:pPr>
              <a:defRPr/>
            </a:pPr>
            <a:fld id="{9B1F1FD2-8F91-4F94-B151-941E203EB6DD}"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61A7218F-8D0C-19A1-B11A-2317CC14EF0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FAD5815-FDAD-8072-ED09-18C64D9F26E9}"/>
              </a:ext>
            </a:extLst>
          </p:cNvPr>
          <p:cNvSpPr>
            <a:spLocks noGrp="1"/>
          </p:cNvSpPr>
          <p:nvPr>
            <p:ph type="sldNum" sz="quarter" idx="12"/>
          </p:nvPr>
        </p:nvSpPr>
        <p:spPr/>
        <p:txBody>
          <a:bodyPr/>
          <a:lstStyle>
            <a:lvl1pPr>
              <a:defRPr/>
            </a:lvl1pPr>
          </a:lstStyle>
          <a:p>
            <a:pPr>
              <a:defRPr/>
            </a:pPr>
            <a:fld id="{305F5E7A-C950-48C8-8266-0B56070DFE62}" type="slidenum">
              <a:rPr lang="en-US"/>
              <a:pPr>
                <a:defRPr/>
              </a:pPr>
              <a:t>‹#›</a:t>
            </a:fld>
            <a:endParaRPr lang="en-US" dirty="0"/>
          </a:p>
        </p:txBody>
      </p:sp>
    </p:spTree>
    <p:extLst>
      <p:ext uri="{BB962C8B-B14F-4D97-AF65-F5344CB8AC3E}">
        <p14:creationId xmlns:p14="http://schemas.microsoft.com/office/powerpoint/2010/main" val="214690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2E6145-B80E-9ACB-2733-89A35E7B4C53}"/>
              </a:ext>
            </a:extLst>
          </p:cNvPr>
          <p:cNvSpPr>
            <a:spLocks noGrp="1"/>
          </p:cNvSpPr>
          <p:nvPr>
            <p:ph type="dt" sz="half" idx="10"/>
          </p:nvPr>
        </p:nvSpPr>
        <p:spPr/>
        <p:txBody>
          <a:bodyPr/>
          <a:lstStyle>
            <a:lvl1pPr>
              <a:defRPr/>
            </a:lvl1pPr>
          </a:lstStyle>
          <a:p>
            <a:pPr>
              <a:defRPr/>
            </a:pPr>
            <a:fld id="{0EDFDBF8-92C4-427A-AB73-3DFF2E1222E1}"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FDD48D75-1C1A-14C2-B3E1-AD8615ED7D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021FEF7-7E17-945D-EB9C-2DE380FFCCB6}"/>
              </a:ext>
            </a:extLst>
          </p:cNvPr>
          <p:cNvSpPr>
            <a:spLocks noGrp="1"/>
          </p:cNvSpPr>
          <p:nvPr>
            <p:ph type="sldNum" sz="quarter" idx="12"/>
          </p:nvPr>
        </p:nvSpPr>
        <p:spPr/>
        <p:txBody>
          <a:bodyPr/>
          <a:lstStyle>
            <a:lvl1pPr>
              <a:defRPr/>
            </a:lvl1pPr>
          </a:lstStyle>
          <a:p>
            <a:pPr>
              <a:defRPr/>
            </a:pPr>
            <a:fld id="{BFE8F0AC-89D8-4A82-B8B6-74D36B413FB4}" type="slidenum">
              <a:rPr lang="en-US"/>
              <a:pPr>
                <a:defRPr/>
              </a:pPr>
              <a:t>‹#›</a:t>
            </a:fld>
            <a:endParaRPr lang="en-US" dirty="0"/>
          </a:p>
        </p:txBody>
      </p:sp>
    </p:spTree>
    <p:extLst>
      <p:ext uri="{BB962C8B-B14F-4D97-AF65-F5344CB8AC3E}">
        <p14:creationId xmlns:p14="http://schemas.microsoft.com/office/powerpoint/2010/main" val="227156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0A7E923-2449-68E8-2A3F-9EB671F73FAA}"/>
              </a:ext>
            </a:extLst>
          </p:cNvPr>
          <p:cNvSpPr>
            <a:spLocks noGrp="1"/>
          </p:cNvSpPr>
          <p:nvPr>
            <p:ph type="dt" sz="half" idx="10"/>
          </p:nvPr>
        </p:nvSpPr>
        <p:spPr/>
        <p:txBody>
          <a:bodyPr/>
          <a:lstStyle>
            <a:lvl1pPr>
              <a:defRPr/>
            </a:lvl1pPr>
          </a:lstStyle>
          <a:p>
            <a:pPr>
              <a:defRPr/>
            </a:pPr>
            <a:fld id="{FF9279D5-2F0C-49DB-9954-9A5D6731F183}" type="datetimeFigureOut">
              <a:rPr lang="en-US"/>
              <a:pPr>
                <a:defRPr/>
              </a:pPr>
              <a:t>3/19/2026</a:t>
            </a:fld>
            <a:endParaRPr lang="en-US" dirty="0"/>
          </a:p>
        </p:txBody>
      </p:sp>
      <p:sp>
        <p:nvSpPr>
          <p:cNvPr id="6" name="Footer Placeholder 4">
            <a:extLst>
              <a:ext uri="{FF2B5EF4-FFF2-40B4-BE49-F238E27FC236}">
                <a16:creationId xmlns:a16="http://schemas.microsoft.com/office/drawing/2014/main" id="{0B8F0179-9529-0B5F-F7CB-CA551C5920C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6AA36CD-7C53-34EE-311F-A7C91147E66D}"/>
              </a:ext>
            </a:extLst>
          </p:cNvPr>
          <p:cNvSpPr>
            <a:spLocks noGrp="1"/>
          </p:cNvSpPr>
          <p:nvPr>
            <p:ph type="sldNum" sz="quarter" idx="12"/>
          </p:nvPr>
        </p:nvSpPr>
        <p:spPr/>
        <p:txBody>
          <a:bodyPr/>
          <a:lstStyle>
            <a:lvl1pPr>
              <a:defRPr/>
            </a:lvl1pPr>
          </a:lstStyle>
          <a:p>
            <a:pPr>
              <a:defRPr/>
            </a:pPr>
            <a:fld id="{E634C107-F99D-46B7-A703-F89C26268C62}" type="slidenum">
              <a:rPr lang="en-US"/>
              <a:pPr>
                <a:defRPr/>
              </a:pPr>
              <a:t>‹#›</a:t>
            </a:fld>
            <a:endParaRPr lang="en-US" dirty="0"/>
          </a:p>
        </p:txBody>
      </p:sp>
    </p:spTree>
    <p:extLst>
      <p:ext uri="{BB962C8B-B14F-4D97-AF65-F5344CB8AC3E}">
        <p14:creationId xmlns:p14="http://schemas.microsoft.com/office/powerpoint/2010/main" val="71708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6516EDF-730E-833E-5586-3D7606364CB8}"/>
              </a:ext>
            </a:extLst>
          </p:cNvPr>
          <p:cNvSpPr>
            <a:spLocks noGrp="1"/>
          </p:cNvSpPr>
          <p:nvPr>
            <p:ph type="dt" sz="half" idx="10"/>
          </p:nvPr>
        </p:nvSpPr>
        <p:spPr/>
        <p:txBody>
          <a:bodyPr/>
          <a:lstStyle>
            <a:lvl1pPr>
              <a:defRPr/>
            </a:lvl1pPr>
          </a:lstStyle>
          <a:p>
            <a:pPr>
              <a:defRPr/>
            </a:pPr>
            <a:fld id="{F61EC9BD-05FA-47C3-8A70-8875B8B061A9}" type="datetimeFigureOut">
              <a:rPr lang="en-US"/>
              <a:pPr>
                <a:defRPr/>
              </a:pPr>
              <a:t>3/19/2026</a:t>
            </a:fld>
            <a:endParaRPr lang="en-US" dirty="0"/>
          </a:p>
        </p:txBody>
      </p:sp>
      <p:sp>
        <p:nvSpPr>
          <p:cNvPr id="8" name="Footer Placeholder 4">
            <a:extLst>
              <a:ext uri="{FF2B5EF4-FFF2-40B4-BE49-F238E27FC236}">
                <a16:creationId xmlns:a16="http://schemas.microsoft.com/office/drawing/2014/main" id="{0AF49549-6E11-41BE-F3A1-2324E5B9B7F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F34DA32-AE71-E3A8-B340-A970E8896B2D}"/>
              </a:ext>
            </a:extLst>
          </p:cNvPr>
          <p:cNvSpPr>
            <a:spLocks noGrp="1"/>
          </p:cNvSpPr>
          <p:nvPr>
            <p:ph type="sldNum" sz="quarter" idx="12"/>
          </p:nvPr>
        </p:nvSpPr>
        <p:spPr/>
        <p:txBody>
          <a:bodyPr/>
          <a:lstStyle>
            <a:lvl1pPr>
              <a:defRPr/>
            </a:lvl1pPr>
          </a:lstStyle>
          <a:p>
            <a:pPr>
              <a:defRPr/>
            </a:pPr>
            <a:fld id="{DF6669B4-EC3D-44CE-BC5E-59474CCB0423}" type="slidenum">
              <a:rPr lang="en-US"/>
              <a:pPr>
                <a:defRPr/>
              </a:pPr>
              <a:t>‹#›</a:t>
            </a:fld>
            <a:endParaRPr lang="en-US" dirty="0"/>
          </a:p>
        </p:txBody>
      </p:sp>
    </p:spTree>
    <p:extLst>
      <p:ext uri="{BB962C8B-B14F-4D97-AF65-F5344CB8AC3E}">
        <p14:creationId xmlns:p14="http://schemas.microsoft.com/office/powerpoint/2010/main" val="2483256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802F9EB-D4A0-EB8E-9FC7-AC86F9F9D2A5}"/>
              </a:ext>
            </a:extLst>
          </p:cNvPr>
          <p:cNvSpPr>
            <a:spLocks noGrp="1"/>
          </p:cNvSpPr>
          <p:nvPr>
            <p:ph type="dt" sz="half" idx="10"/>
          </p:nvPr>
        </p:nvSpPr>
        <p:spPr/>
        <p:txBody>
          <a:bodyPr/>
          <a:lstStyle>
            <a:lvl1pPr>
              <a:defRPr/>
            </a:lvl1pPr>
          </a:lstStyle>
          <a:p>
            <a:pPr>
              <a:defRPr/>
            </a:pPr>
            <a:fld id="{9B043DDD-1BB2-4DD3-8950-1E9AE0D3222A}" type="datetimeFigureOut">
              <a:rPr lang="en-US"/>
              <a:pPr>
                <a:defRPr/>
              </a:pPr>
              <a:t>3/19/2026</a:t>
            </a:fld>
            <a:endParaRPr lang="en-US" dirty="0"/>
          </a:p>
        </p:txBody>
      </p:sp>
      <p:sp>
        <p:nvSpPr>
          <p:cNvPr id="4" name="Footer Placeholder 4">
            <a:extLst>
              <a:ext uri="{FF2B5EF4-FFF2-40B4-BE49-F238E27FC236}">
                <a16:creationId xmlns:a16="http://schemas.microsoft.com/office/drawing/2014/main" id="{7F17570C-2D3A-2B38-1636-714B4A5A251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1AB56C2-BAEA-FC8F-1129-8A649F4F875B}"/>
              </a:ext>
            </a:extLst>
          </p:cNvPr>
          <p:cNvSpPr>
            <a:spLocks noGrp="1"/>
          </p:cNvSpPr>
          <p:nvPr>
            <p:ph type="sldNum" sz="quarter" idx="12"/>
          </p:nvPr>
        </p:nvSpPr>
        <p:spPr/>
        <p:txBody>
          <a:bodyPr/>
          <a:lstStyle>
            <a:lvl1pPr>
              <a:defRPr/>
            </a:lvl1pPr>
          </a:lstStyle>
          <a:p>
            <a:pPr>
              <a:defRPr/>
            </a:pPr>
            <a:fld id="{C46B4127-E57B-4987-9F9B-35CEFF8197EC}" type="slidenum">
              <a:rPr lang="en-US"/>
              <a:pPr>
                <a:defRPr/>
              </a:pPr>
              <a:t>‹#›</a:t>
            </a:fld>
            <a:endParaRPr lang="en-US" dirty="0"/>
          </a:p>
        </p:txBody>
      </p:sp>
    </p:spTree>
    <p:extLst>
      <p:ext uri="{BB962C8B-B14F-4D97-AF65-F5344CB8AC3E}">
        <p14:creationId xmlns:p14="http://schemas.microsoft.com/office/powerpoint/2010/main" val="1464685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91EA5A1-BBBE-CD43-B064-19EAEE6A91B0}"/>
              </a:ext>
            </a:extLst>
          </p:cNvPr>
          <p:cNvSpPr>
            <a:spLocks noGrp="1"/>
          </p:cNvSpPr>
          <p:nvPr>
            <p:ph type="dt" sz="half" idx="10"/>
          </p:nvPr>
        </p:nvSpPr>
        <p:spPr/>
        <p:txBody>
          <a:bodyPr/>
          <a:lstStyle>
            <a:lvl1pPr>
              <a:defRPr/>
            </a:lvl1pPr>
          </a:lstStyle>
          <a:p>
            <a:pPr>
              <a:defRPr/>
            </a:pPr>
            <a:fld id="{3F046662-D6D9-4675-A894-002DCAED96DB}" type="datetimeFigureOut">
              <a:rPr lang="en-US"/>
              <a:pPr>
                <a:defRPr/>
              </a:pPr>
              <a:t>3/19/2026</a:t>
            </a:fld>
            <a:endParaRPr lang="en-US" dirty="0"/>
          </a:p>
        </p:txBody>
      </p:sp>
      <p:sp>
        <p:nvSpPr>
          <p:cNvPr id="3" name="Footer Placeholder 4">
            <a:extLst>
              <a:ext uri="{FF2B5EF4-FFF2-40B4-BE49-F238E27FC236}">
                <a16:creationId xmlns:a16="http://schemas.microsoft.com/office/drawing/2014/main" id="{D7ED7284-D475-3DA6-D024-483E431CA01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ED24199-DE16-49F0-C041-ED9ACD616452}"/>
              </a:ext>
            </a:extLst>
          </p:cNvPr>
          <p:cNvSpPr>
            <a:spLocks noGrp="1"/>
          </p:cNvSpPr>
          <p:nvPr>
            <p:ph type="sldNum" sz="quarter" idx="12"/>
          </p:nvPr>
        </p:nvSpPr>
        <p:spPr/>
        <p:txBody>
          <a:bodyPr/>
          <a:lstStyle>
            <a:lvl1pPr>
              <a:defRPr/>
            </a:lvl1pPr>
          </a:lstStyle>
          <a:p>
            <a:pPr>
              <a:defRPr/>
            </a:pPr>
            <a:fld id="{279010DE-DBFF-46AB-BF5A-F7C0937CCB39}" type="slidenum">
              <a:rPr lang="en-US"/>
              <a:pPr>
                <a:defRPr/>
              </a:pPr>
              <a:t>‹#›</a:t>
            </a:fld>
            <a:endParaRPr lang="en-US" dirty="0"/>
          </a:p>
        </p:txBody>
      </p:sp>
    </p:spTree>
    <p:extLst>
      <p:ext uri="{BB962C8B-B14F-4D97-AF65-F5344CB8AC3E}">
        <p14:creationId xmlns:p14="http://schemas.microsoft.com/office/powerpoint/2010/main" val="3709666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1FDC9725-6370-0003-09E2-E5BA3C4E27AF}"/>
              </a:ext>
            </a:extLst>
          </p:cNvPr>
          <p:cNvSpPr>
            <a:spLocks noGrp="1"/>
          </p:cNvSpPr>
          <p:nvPr>
            <p:ph type="dt" sz="half" idx="10"/>
          </p:nvPr>
        </p:nvSpPr>
        <p:spPr/>
        <p:txBody>
          <a:bodyPr/>
          <a:lstStyle>
            <a:lvl1pPr>
              <a:defRPr/>
            </a:lvl1pPr>
          </a:lstStyle>
          <a:p>
            <a:pPr>
              <a:defRPr/>
            </a:pPr>
            <a:fld id="{42366C5E-19CB-4E03-B684-8779785FFAB1}" type="datetimeFigureOut">
              <a:rPr lang="en-US"/>
              <a:pPr>
                <a:defRPr/>
              </a:pPr>
              <a:t>3/19/2026</a:t>
            </a:fld>
            <a:endParaRPr lang="en-US" dirty="0"/>
          </a:p>
        </p:txBody>
      </p:sp>
      <p:sp>
        <p:nvSpPr>
          <p:cNvPr id="6" name="Footer Placeholder 4">
            <a:extLst>
              <a:ext uri="{FF2B5EF4-FFF2-40B4-BE49-F238E27FC236}">
                <a16:creationId xmlns:a16="http://schemas.microsoft.com/office/drawing/2014/main" id="{4D3048B9-A172-59A5-974A-A8BAB7DF8E9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9E7B759-7CB8-51D1-3E30-4C423E4DFC0D}"/>
              </a:ext>
            </a:extLst>
          </p:cNvPr>
          <p:cNvSpPr>
            <a:spLocks noGrp="1"/>
          </p:cNvSpPr>
          <p:nvPr>
            <p:ph type="sldNum" sz="quarter" idx="12"/>
          </p:nvPr>
        </p:nvSpPr>
        <p:spPr/>
        <p:txBody>
          <a:bodyPr/>
          <a:lstStyle>
            <a:lvl1pPr>
              <a:defRPr/>
            </a:lvl1pPr>
          </a:lstStyle>
          <a:p>
            <a:pPr>
              <a:defRPr/>
            </a:pPr>
            <a:fld id="{C8B04A26-E91D-4774-A24B-9BCAE136811C}" type="slidenum">
              <a:rPr lang="en-US"/>
              <a:pPr>
                <a:defRPr/>
              </a:pPr>
              <a:t>‹#›</a:t>
            </a:fld>
            <a:endParaRPr lang="en-US" dirty="0"/>
          </a:p>
        </p:txBody>
      </p:sp>
    </p:spTree>
    <p:extLst>
      <p:ext uri="{BB962C8B-B14F-4D97-AF65-F5344CB8AC3E}">
        <p14:creationId xmlns:p14="http://schemas.microsoft.com/office/powerpoint/2010/main" val="3603952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3C6EB181-E46E-D63D-F9CF-69D842ABB11D}"/>
              </a:ext>
            </a:extLst>
          </p:cNvPr>
          <p:cNvSpPr>
            <a:spLocks noGrp="1"/>
          </p:cNvSpPr>
          <p:nvPr>
            <p:ph type="dt" sz="half" idx="10"/>
          </p:nvPr>
        </p:nvSpPr>
        <p:spPr/>
        <p:txBody>
          <a:bodyPr/>
          <a:lstStyle>
            <a:lvl1pPr>
              <a:defRPr/>
            </a:lvl1pPr>
          </a:lstStyle>
          <a:p>
            <a:pPr>
              <a:defRPr/>
            </a:pPr>
            <a:fld id="{DDCF2E0A-48AD-4D1B-BE16-A845C651A89B}" type="datetimeFigureOut">
              <a:rPr lang="en-US"/>
              <a:pPr>
                <a:defRPr/>
              </a:pPr>
              <a:t>3/19/2026</a:t>
            </a:fld>
            <a:endParaRPr lang="en-US" dirty="0"/>
          </a:p>
        </p:txBody>
      </p:sp>
      <p:sp>
        <p:nvSpPr>
          <p:cNvPr id="6" name="Footer Placeholder 4">
            <a:extLst>
              <a:ext uri="{FF2B5EF4-FFF2-40B4-BE49-F238E27FC236}">
                <a16:creationId xmlns:a16="http://schemas.microsoft.com/office/drawing/2014/main" id="{2A5BA556-2889-CE64-7A86-1CBABACB3E4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133188C-DDB4-B7A7-FDB6-BF35C157B0E4}"/>
              </a:ext>
            </a:extLst>
          </p:cNvPr>
          <p:cNvSpPr>
            <a:spLocks noGrp="1"/>
          </p:cNvSpPr>
          <p:nvPr>
            <p:ph type="sldNum" sz="quarter" idx="12"/>
          </p:nvPr>
        </p:nvSpPr>
        <p:spPr/>
        <p:txBody>
          <a:bodyPr/>
          <a:lstStyle>
            <a:lvl1pPr>
              <a:defRPr/>
            </a:lvl1pPr>
          </a:lstStyle>
          <a:p>
            <a:pPr>
              <a:defRPr/>
            </a:pPr>
            <a:fld id="{B4CCCB3E-3377-43BA-BA4F-98EF67E2851A}" type="slidenum">
              <a:rPr lang="en-US"/>
              <a:pPr>
                <a:defRPr/>
              </a:pPr>
              <a:t>‹#›</a:t>
            </a:fld>
            <a:endParaRPr lang="en-US" dirty="0"/>
          </a:p>
        </p:txBody>
      </p:sp>
    </p:spTree>
    <p:extLst>
      <p:ext uri="{BB962C8B-B14F-4D97-AF65-F5344CB8AC3E}">
        <p14:creationId xmlns:p14="http://schemas.microsoft.com/office/powerpoint/2010/main" val="2793564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F370BC-4209-ED0C-404F-6CD2321A9D68}"/>
              </a:ext>
            </a:extLst>
          </p:cNvPr>
          <p:cNvSpPr>
            <a:spLocks noGrp="1"/>
          </p:cNvSpPr>
          <p:nvPr>
            <p:ph type="dt" sz="half" idx="10"/>
          </p:nvPr>
        </p:nvSpPr>
        <p:spPr/>
        <p:txBody>
          <a:bodyPr/>
          <a:lstStyle>
            <a:lvl1pPr>
              <a:defRPr/>
            </a:lvl1pPr>
          </a:lstStyle>
          <a:p>
            <a:pPr>
              <a:defRPr/>
            </a:pPr>
            <a:fld id="{9F54ABCB-E9D4-4EC8-9F78-296971A2094D}"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98473DB2-5384-18C9-5982-8190303E783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74FC22-34F8-D8DD-4808-9EF198EF8DF0}"/>
              </a:ext>
            </a:extLst>
          </p:cNvPr>
          <p:cNvSpPr>
            <a:spLocks noGrp="1"/>
          </p:cNvSpPr>
          <p:nvPr>
            <p:ph type="sldNum" sz="quarter" idx="12"/>
          </p:nvPr>
        </p:nvSpPr>
        <p:spPr/>
        <p:txBody>
          <a:bodyPr/>
          <a:lstStyle>
            <a:lvl1pPr>
              <a:defRPr/>
            </a:lvl1pPr>
          </a:lstStyle>
          <a:p>
            <a:pPr>
              <a:defRPr/>
            </a:pPr>
            <a:fld id="{8F87C92E-DC5B-47CD-9299-0DB01ABE7BD1}" type="slidenum">
              <a:rPr lang="en-US"/>
              <a:pPr>
                <a:defRPr/>
              </a:pPr>
              <a:t>‹#›</a:t>
            </a:fld>
            <a:endParaRPr lang="en-US" dirty="0"/>
          </a:p>
        </p:txBody>
      </p:sp>
    </p:spTree>
    <p:extLst>
      <p:ext uri="{BB962C8B-B14F-4D97-AF65-F5344CB8AC3E}">
        <p14:creationId xmlns:p14="http://schemas.microsoft.com/office/powerpoint/2010/main" val="643045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641349-6F3F-BCFE-14F0-A827B817F1D0}"/>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EE9602F3-AE34-3A7C-1854-F495A769512C}"/>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704A4964-FF18-9767-F1DA-ABE0E3D5956C}"/>
              </a:ext>
            </a:extLst>
          </p:cNvPr>
          <p:cNvSpPr>
            <a:spLocks noGrp="1"/>
          </p:cNvSpPr>
          <p:nvPr>
            <p:ph type="dt" sz="half" idx="14"/>
          </p:nvPr>
        </p:nvSpPr>
        <p:spPr/>
        <p:txBody>
          <a:bodyPr/>
          <a:lstStyle>
            <a:lvl1pPr>
              <a:defRPr/>
            </a:lvl1pPr>
          </a:lstStyle>
          <a:p>
            <a:pPr>
              <a:defRPr/>
            </a:pPr>
            <a:fld id="{55528BAF-93C3-4B47-BED7-4582843FCFEC}" type="datetimeFigureOut">
              <a:rPr lang="en-US"/>
              <a:pPr>
                <a:defRPr/>
              </a:pPr>
              <a:t>3/19/2026</a:t>
            </a:fld>
            <a:endParaRPr lang="en-US" dirty="0"/>
          </a:p>
        </p:txBody>
      </p:sp>
      <p:sp>
        <p:nvSpPr>
          <p:cNvPr id="7" name="Footer Placeholder 4">
            <a:extLst>
              <a:ext uri="{FF2B5EF4-FFF2-40B4-BE49-F238E27FC236}">
                <a16:creationId xmlns:a16="http://schemas.microsoft.com/office/drawing/2014/main" id="{8363A087-2D36-EFEE-0DDB-F4FDD35D9385}"/>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AEF66856-65B4-AEB4-556F-23E8E4D59AC8}"/>
              </a:ext>
            </a:extLst>
          </p:cNvPr>
          <p:cNvSpPr>
            <a:spLocks noGrp="1"/>
          </p:cNvSpPr>
          <p:nvPr>
            <p:ph type="sldNum" sz="quarter" idx="16"/>
          </p:nvPr>
        </p:nvSpPr>
        <p:spPr/>
        <p:txBody>
          <a:bodyPr/>
          <a:lstStyle>
            <a:lvl1pPr>
              <a:defRPr/>
            </a:lvl1pPr>
          </a:lstStyle>
          <a:p>
            <a:pPr>
              <a:defRPr/>
            </a:pPr>
            <a:fld id="{5B17E883-85C2-4BA3-B767-F719F8E78F7B}" type="slidenum">
              <a:rPr lang="en-US"/>
              <a:pPr>
                <a:defRPr/>
              </a:pPr>
              <a:t>‹#›</a:t>
            </a:fld>
            <a:endParaRPr lang="en-US" dirty="0"/>
          </a:p>
        </p:txBody>
      </p:sp>
    </p:spTree>
    <p:extLst>
      <p:ext uri="{BB962C8B-B14F-4D97-AF65-F5344CB8AC3E}">
        <p14:creationId xmlns:p14="http://schemas.microsoft.com/office/powerpoint/2010/main" val="1512055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824174-306A-7E04-5D62-597B0F645AD2}"/>
              </a:ext>
            </a:extLst>
          </p:cNvPr>
          <p:cNvSpPr>
            <a:spLocks noGrp="1"/>
          </p:cNvSpPr>
          <p:nvPr>
            <p:ph type="dt" sz="half" idx="10"/>
          </p:nvPr>
        </p:nvSpPr>
        <p:spPr/>
        <p:txBody>
          <a:bodyPr/>
          <a:lstStyle>
            <a:lvl1pPr>
              <a:defRPr/>
            </a:lvl1pPr>
          </a:lstStyle>
          <a:p>
            <a:pPr>
              <a:defRPr/>
            </a:pPr>
            <a:fld id="{7A5F338D-FCB2-4281-8DD5-AC382DCAB7A4}"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C63ACB27-CA42-0A83-0F9C-FC7E3DB4744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DC7B09-7224-72DE-B2F4-38DC89BD90DA}"/>
              </a:ext>
            </a:extLst>
          </p:cNvPr>
          <p:cNvSpPr>
            <a:spLocks noGrp="1"/>
          </p:cNvSpPr>
          <p:nvPr>
            <p:ph type="sldNum" sz="quarter" idx="12"/>
          </p:nvPr>
        </p:nvSpPr>
        <p:spPr/>
        <p:txBody>
          <a:bodyPr/>
          <a:lstStyle>
            <a:lvl1pPr>
              <a:defRPr/>
            </a:lvl1pPr>
          </a:lstStyle>
          <a:p>
            <a:pPr>
              <a:defRPr/>
            </a:pPr>
            <a:fld id="{74D4958E-77AD-4204-8F16-E3FC94766969}" type="slidenum">
              <a:rPr lang="en-US"/>
              <a:pPr>
                <a:defRPr/>
              </a:pPr>
              <a:t>‹#›</a:t>
            </a:fld>
            <a:endParaRPr lang="en-US" dirty="0"/>
          </a:p>
        </p:txBody>
      </p:sp>
    </p:spTree>
    <p:extLst>
      <p:ext uri="{BB962C8B-B14F-4D97-AF65-F5344CB8AC3E}">
        <p14:creationId xmlns:p14="http://schemas.microsoft.com/office/powerpoint/2010/main" val="1751980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6ACF50-E32B-2356-4335-ECD7A69FBD56}"/>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3C331184-5A25-2631-1101-ED41F7E3B3F6}"/>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61451015-C9E1-645A-3E19-D7ED32D760D0}"/>
              </a:ext>
            </a:extLst>
          </p:cNvPr>
          <p:cNvSpPr>
            <a:spLocks noGrp="1"/>
          </p:cNvSpPr>
          <p:nvPr>
            <p:ph type="dt" sz="half" idx="14"/>
          </p:nvPr>
        </p:nvSpPr>
        <p:spPr/>
        <p:txBody>
          <a:bodyPr/>
          <a:lstStyle>
            <a:lvl1pPr>
              <a:defRPr/>
            </a:lvl1pPr>
          </a:lstStyle>
          <a:p>
            <a:pPr>
              <a:defRPr/>
            </a:pPr>
            <a:fld id="{CA8AE166-C6FA-45F0-A264-8A466EC0313D}" type="datetimeFigureOut">
              <a:rPr lang="en-US"/>
              <a:pPr>
                <a:defRPr/>
              </a:pPr>
              <a:t>3/19/2026</a:t>
            </a:fld>
            <a:endParaRPr lang="en-US" dirty="0"/>
          </a:p>
        </p:txBody>
      </p:sp>
      <p:sp>
        <p:nvSpPr>
          <p:cNvPr id="7" name="Footer Placeholder 4">
            <a:extLst>
              <a:ext uri="{FF2B5EF4-FFF2-40B4-BE49-F238E27FC236}">
                <a16:creationId xmlns:a16="http://schemas.microsoft.com/office/drawing/2014/main" id="{5958F035-A277-4B44-A116-140256E88DFD}"/>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A13B5049-9F5A-485C-6EA2-ABC6806F4F96}"/>
              </a:ext>
            </a:extLst>
          </p:cNvPr>
          <p:cNvSpPr>
            <a:spLocks noGrp="1"/>
          </p:cNvSpPr>
          <p:nvPr>
            <p:ph type="sldNum" sz="quarter" idx="16"/>
          </p:nvPr>
        </p:nvSpPr>
        <p:spPr/>
        <p:txBody>
          <a:bodyPr/>
          <a:lstStyle>
            <a:lvl1pPr>
              <a:defRPr/>
            </a:lvl1pPr>
          </a:lstStyle>
          <a:p>
            <a:pPr>
              <a:defRPr/>
            </a:pPr>
            <a:fld id="{F6E76A7C-377D-432E-9EAA-B853D914DB51}" type="slidenum">
              <a:rPr lang="en-US"/>
              <a:pPr>
                <a:defRPr/>
              </a:pPr>
              <a:t>‹#›</a:t>
            </a:fld>
            <a:endParaRPr lang="en-US" dirty="0"/>
          </a:p>
        </p:txBody>
      </p:sp>
    </p:spTree>
    <p:extLst>
      <p:ext uri="{BB962C8B-B14F-4D97-AF65-F5344CB8AC3E}">
        <p14:creationId xmlns:p14="http://schemas.microsoft.com/office/powerpoint/2010/main" val="814579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1650C-0FCA-1F47-E799-89C25FB4977E}"/>
              </a:ext>
            </a:extLst>
          </p:cNvPr>
          <p:cNvSpPr>
            <a:spLocks noGrp="1"/>
          </p:cNvSpPr>
          <p:nvPr>
            <p:ph type="dt" sz="half" idx="14"/>
          </p:nvPr>
        </p:nvSpPr>
        <p:spPr/>
        <p:txBody>
          <a:bodyPr/>
          <a:lstStyle>
            <a:lvl1pPr>
              <a:defRPr/>
            </a:lvl1pPr>
          </a:lstStyle>
          <a:p>
            <a:pPr>
              <a:defRPr/>
            </a:pPr>
            <a:fld id="{703A3D32-BF07-4547-9C1B-2B4D35FC40C4}"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2E57D3E2-9798-E016-C023-709E7500CACD}"/>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5BF7650-88E6-9E07-428A-1D8C079E62ED}"/>
              </a:ext>
            </a:extLst>
          </p:cNvPr>
          <p:cNvSpPr>
            <a:spLocks noGrp="1"/>
          </p:cNvSpPr>
          <p:nvPr>
            <p:ph type="sldNum" sz="quarter" idx="16"/>
          </p:nvPr>
        </p:nvSpPr>
        <p:spPr/>
        <p:txBody>
          <a:bodyPr/>
          <a:lstStyle>
            <a:lvl1pPr>
              <a:defRPr/>
            </a:lvl1pPr>
          </a:lstStyle>
          <a:p>
            <a:pPr>
              <a:defRPr/>
            </a:pPr>
            <a:fld id="{D25A17B9-017F-4F15-9BF0-482C73910A8D}" type="slidenum">
              <a:rPr lang="en-US"/>
              <a:pPr>
                <a:defRPr/>
              </a:pPr>
              <a:t>‹#›</a:t>
            </a:fld>
            <a:endParaRPr lang="en-US" dirty="0"/>
          </a:p>
        </p:txBody>
      </p:sp>
    </p:spTree>
    <p:extLst>
      <p:ext uri="{BB962C8B-B14F-4D97-AF65-F5344CB8AC3E}">
        <p14:creationId xmlns:p14="http://schemas.microsoft.com/office/powerpoint/2010/main" val="298922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224EAC5-BF12-C4C3-3888-37CE7278A931}"/>
              </a:ext>
            </a:extLst>
          </p:cNvPr>
          <p:cNvSpPr>
            <a:spLocks noGrp="1"/>
          </p:cNvSpPr>
          <p:nvPr>
            <p:ph type="dt" sz="half" idx="10"/>
          </p:nvPr>
        </p:nvSpPr>
        <p:spPr/>
        <p:txBody>
          <a:bodyPr/>
          <a:lstStyle>
            <a:lvl1pPr>
              <a:defRPr/>
            </a:lvl1pPr>
          </a:lstStyle>
          <a:p>
            <a:pPr>
              <a:defRPr/>
            </a:pPr>
            <a:fld id="{0531AE2B-3476-4E71-ACD8-33AB22637006}"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0C68683E-972C-F1CB-A318-EFD38DBE56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6ED7D55-D9E1-A2BD-1487-CD0E334D139F}"/>
              </a:ext>
            </a:extLst>
          </p:cNvPr>
          <p:cNvSpPr>
            <a:spLocks noGrp="1"/>
          </p:cNvSpPr>
          <p:nvPr>
            <p:ph type="sldNum" sz="quarter" idx="12"/>
          </p:nvPr>
        </p:nvSpPr>
        <p:spPr/>
        <p:txBody>
          <a:bodyPr/>
          <a:lstStyle>
            <a:lvl1pPr>
              <a:defRPr/>
            </a:lvl1pPr>
          </a:lstStyle>
          <a:p>
            <a:pPr>
              <a:defRPr/>
            </a:pPr>
            <a:fld id="{A738CE82-6892-490C-8A9B-742A845C59A5}" type="slidenum">
              <a:rPr lang="en-US"/>
              <a:pPr>
                <a:defRPr/>
              </a:pPr>
              <a:t>‹#›</a:t>
            </a:fld>
            <a:endParaRPr lang="en-US" dirty="0"/>
          </a:p>
        </p:txBody>
      </p:sp>
    </p:spTree>
    <p:extLst>
      <p:ext uri="{BB962C8B-B14F-4D97-AF65-F5344CB8AC3E}">
        <p14:creationId xmlns:p14="http://schemas.microsoft.com/office/powerpoint/2010/main" val="1258385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9254C0A-5038-110C-2CC9-0E0C59D84A45}"/>
              </a:ext>
            </a:extLst>
          </p:cNvPr>
          <p:cNvSpPr>
            <a:spLocks noGrp="1"/>
          </p:cNvSpPr>
          <p:nvPr>
            <p:ph type="dt" sz="half" idx="10"/>
          </p:nvPr>
        </p:nvSpPr>
        <p:spPr/>
        <p:txBody>
          <a:bodyPr/>
          <a:lstStyle>
            <a:lvl1pPr>
              <a:defRPr/>
            </a:lvl1pPr>
          </a:lstStyle>
          <a:p>
            <a:pPr>
              <a:defRPr/>
            </a:pPr>
            <a:fld id="{3754AFFC-23F1-43AF-919B-FE5B701D0B8A}"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27F98F79-E919-0A59-463A-D26804C4534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66C848-BA65-6CA9-A2F0-C19A08B4F6DD}"/>
              </a:ext>
            </a:extLst>
          </p:cNvPr>
          <p:cNvSpPr>
            <a:spLocks noGrp="1"/>
          </p:cNvSpPr>
          <p:nvPr>
            <p:ph type="sldNum" sz="quarter" idx="12"/>
          </p:nvPr>
        </p:nvSpPr>
        <p:spPr/>
        <p:txBody>
          <a:bodyPr/>
          <a:lstStyle>
            <a:lvl1pPr>
              <a:defRPr/>
            </a:lvl1pPr>
          </a:lstStyle>
          <a:p>
            <a:pPr>
              <a:defRPr/>
            </a:pPr>
            <a:fld id="{EAAAF5B6-3C85-46A2-AB32-313BF4B5E5BA}" type="slidenum">
              <a:rPr lang="en-US"/>
              <a:pPr>
                <a:defRPr/>
              </a:pPr>
              <a:t>‹#›</a:t>
            </a:fld>
            <a:endParaRPr lang="en-US" dirty="0"/>
          </a:p>
        </p:txBody>
      </p:sp>
    </p:spTree>
    <p:extLst>
      <p:ext uri="{BB962C8B-B14F-4D97-AF65-F5344CB8AC3E}">
        <p14:creationId xmlns:p14="http://schemas.microsoft.com/office/powerpoint/2010/main" val="1067444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44869A14-6A2C-0F4A-E8EB-EE469CBE749F}"/>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F7F41A0F-DAB9-C109-8788-93B8EFBFCE11}"/>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F5E4422D-3FA0-B4C3-F329-67197AF709A3}"/>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88A505B-9533-D646-2425-196A107FFFF1}"/>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2F390AD6-8806-F846-73D6-D905D7422C88}"/>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1BA873A7-DA99-A9B6-70D2-2277280F158E}"/>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B245DC15-42A8-5856-9D83-E2551F69A537}"/>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4B7E7FAE-A4A2-56A9-EC9F-98D549CA3167}"/>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B057E4CC-35BB-0BB7-4085-7190DB0E4E91}"/>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C32B09C5-2F43-9F2A-136E-C3296DDC7BBC}"/>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9FAF8D05-1410-1A7D-042E-AEFC3E71DE60}"/>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7A13AB0A-A21B-D5A8-5E68-30C6009B7D5D}"/>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AE48E08E-96A1-F053-E716-F843A4420310}"/>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D903659-BE9F-7557-5703-BCFA42889BAF}"/>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4139FDF6-54A1-4644-8D19-46E574E790FE}" type="datetimeFigureOut">
              <a:rPr lang="en-US"/>
              <a:pPr>
                <a:defRPr/>
              </a:pPr>
              <a:t>3/19/2026</a:t>
            </a:fld>
            <a:endParaRPr lang="en-US" dirty="0"/>
          </a:p>
        </p:txBody>
      </p:sp>
      <p:sp>
        <p:nvSpPr>
          <p:cNvPr id="5" name="Footer Placeholder 4">
            <a:extLst>
              <a:ext uri="{FF2B5EF4-FFF2-40B4-BE49-F238E27FC236}">
                <a16:creationId xmlns:a16="http://schemas.microsoft.com/office/drawing/2014/main" id="{21D6A240-B009-7C0F-BCF8-E764E7CF4563}"/>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75BE3E2E-2DBB-719F-0966-FC0E912347C6}"/>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11642FBD-2D07-45EE-ACF9-23691A90320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67"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8" r:id="rId11"/>
    <p:sldLayoutId id="2147483963" r:id="rId12"/>
    <p:sldLayoutId id="2147483969" r:id="rId13"/>
    <p:sldLayoutId id="2147483964" r:id="rId14"/>
    <p:sldLayoutId id="2147483965" r:id="rId15"/>
    <p:sldLayoutId id="2147483966"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951EE10D-2E6E-56D5-7040-EEA3A49BA734}"/>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34920C41-EC14-2208-F019-603E526AEEBB}"/>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D2C3A98D-5667-F557-934C-9B672E829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856" y="185737"/>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1">
            <a:extLst>
              <a:ext uri="{FF2B5EF4-FFF2-40B4-BE49-F238E27FC236}">
                <a16:creationId xmlns:a16="http://schemas.microsoft.com/office/drawing/2014/main" id="{2C39EEDF-D9B8-C6B0-18CF-F21B05BBCB3E}"/>
              </a:ext>
            </a:extLst>
          </p:cNvPr>
          <p:cNvSpPr txBox="1">
            <a:spLocks noChangeArrowheads="1"/>
          </p:cNvSpPr>
          <p:nvPr/>
        </p:nvSpPr>
        <p:spPr bwMode="auto">
          <a:xfrm>
            <a:off x="647700" y="2916238"/>
            <a:ext cx="8569325" cy="4457700"/>
          </a:xfrm>
          <a:prstGeom prst="rect">
            <a:avLst/>
          </a:prstGeom>
          <a:noFill/>
          <a:ln>
            <a:noFill/>
          </a:ln>
        </p:spPr>
        <p:txBody>
          <a:bodyPr>
            <a:spAutoFit/>
          </a:bodyPr>
          <a:lstStyle>
            <a:lvl1pPr marL="285750" indent="-28575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lnSpc>
                <a:spcPct val="150000"/>
              </a:lnSpc>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Theme - SDG 4 – Quality Education</a:t>
            </a:r>
          </a:p>
          <a:p>
            <a:pPr algn="just">
              <a:lnSpc>
                <a:spcPct val="150000"/>
              </a:lnSpc>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Category - Software</a:t>
            </a:r>
          </a:p>
          <a:p>
            <a:pPr algn="just">
              <a:lnSpc>
                <a:spcPct val="150000"/>
              </a:lnSpc>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Group No - 11</a:t>
            </a:r>
          </a:p>
          <a:p>
            <a:pPr algn="just">
              <a:lnSpc>
                <a:spcPct val="150000"/>
              </a:lnSpc>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Group Members -  Sanwar </a:t>
            </a:r>
            <a:r>
              <a:rPr lang="en-US" altLang="en-US" sz="2400" b="1" dirty="0" err="1">
                <a:latin typeface="Times New Roman" panose="02020603050405020304" pitchFamily="18" charset="0"/>
                <a:cs typeface="Times New Roman" panose="02020603050405020304" pitchFamily="18" charset="0"/>
              </a:rPr>
              <a:t>Mukkirwar</a:t>
            </a:r>
            <a:endParaRPr lang="en-US" altLang="en-US" sz="2400" b="1" dirty="0">
              <a:latin typeface="Times New Roman" panose="02020603050405020304" pitchFamily="18" charset="0"/>
              <a:cs typeface="Times New Roman" panose="02020603050405020304" pitchFamily="18" charset="0"/>
            </a:endParaRPr>
          </a:p>
          <a:p>
            <a:pPr marL="0" indent="0" algn="just">
              <a:lnSpc>
                <a:spcPct val="150000"/>
              </a:lnSpc>
              <a:defRPr/>
            </a:pPr>
            <a:r>
              <a:rPr lang="en-US" altLang="en-US" sz="2400" b="1" dirty="0">
                <a:latin typeface="Times New Roman" panose="02020603050405020304" pitchFamily="18" charset="0"/>
                <a:cs typeface="Times New Roman" panose="02020603050405020304" pitchFamily="18" charset="0"/>
              </a:rPr>
              <a:t>                                    Waqqas Mulla</a:t>
            </a:r>
          </a:p>
          <a:p>
            <a:pPr marL="0" indent="0" algn="just">
              <a:lnSpc>
                <a:spcPct val="150000"/>
              </a:lnSpc>
              <a:defRPr/>
            </a:pPr>
            <a:r>
              <a:rPr lang="en-US" altLang="en-US" sz="2400" b="1" dirty="0">
                <a:latin typeface="Times New Roman" panose="02020603050405020304" pitchFamily="18" charset="0"/>
                <a:cs typeface="Times New Roman" panose="02020603050405020304" pitchFamily="18" charset="0"/>
              </a:rPr>
              <a:t>                                    Pragati Nayak </a:t>
            </a:r>
          </a:p>
          <a:p>
            <a:pPr marL="0" indent="0" algn="just">
              <a:lnSpc>
                <a:spcPct val="150000"/>
              </a:lnSpc>
              <a:defRPr/>
            </a:pPr>
            <a:r>
              <a:rPr lang="en-US" altLang="en-US" sz="2400" b="1" dirty="0">
                <a:latin typeface="Times New Roman" panose="02020603050405020304" pitchFamily="18" charset="0"/>
                <a:cs typeface="Times New Roman" panose="02020603050405020304" pitchFamily="18" charset="0"/>
              </a:rPr>
              <a:t>                                    Riya Patil</a:t>
            </a:r>
          </a:p>
          <a:p>
            <a:pPr algn="just">
              <a:lnSpc>
                <a:spcPct val="150000"/>
              </a:lnSpc>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Guide - Prof. Rashmi Dhake</a:t>
            </a:r>
          </a:p>
        </p:txBody>
      </p:sp>
      <p:sp>
        <p:nvSpPr>
          <p:cNvPr id="4" name="Title 7">
            <a:extLst>
              <a:ext uri="{FF2B5EF4-FFF2-40B4-BE49-F238E27FC236}">
                <a16:creationId xmlns:a16="http://schemas.microsoft.com/office/drawing/2014/main" id="{11B2ABA5-FE89-DFA2-7A7D-F8AD485463A4}"/>
              </a:ext>
            </a:extLst>
          </p:cNvPr>
          <p:cNvSpPr txBox="1">
            <a:spLocks/>
          </p:cNvSpPr>
          <p:nvPr/>
        </p:nvSpPr>
        <p:spPr bwMode="auto">
          <a:xfrm>
            <a:off x="0" y="2044700"/>
            <a:ext cx="10080625" cy="571500"/>
          </a:xfrm>
          <a:prstGeom prst="rect">
            <a:avLst/>
          </a:prstGeom>
          <a:noFill/>
          <a:ln>
            <a:noFill/>
          </a:ln>
        </p:spPr>
        <p:txBody>
          <a:bodyPr>
            <a:normAutofit fontScale="25000" lnSpcReduction="20000"/>
          </a:bodyPr>
          <a:lstStyle>
            <a:lvl1pPr algn="l" defTabSz="503238" rtl="0" eaLnBrk="0" fontAlgn="base" hangingPunct="0">
              <a:spcBef>
                <a:spcPct val="0"/>
              </a:spcBef>
              <a:spcAft>
                <a:spcPct val="0"/>
              </a:spcAft>
              <a:defRPr sz="3968"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r>
              <a:rPr lang="en-IN" sz="2400" dirty="0">
                <a:latin typeface="Times New Roman" panose="02020603050405020304" pitchFamily="18" charset="0"/>
                <a:cs typeface="Times New Roman" panose="02020603050405020304" pitchFamily="18" charset="0"/>
              </a:rPr>
              <a:t>	</a:t>
            </a:r>
            <a:br>
              <a:rPr lang="en-IN" sz="2400" dirty="0">
                <a:latin typeface="Times New Roman" panose="02020603050405020304" pitchFamily="18" charset="0"/>
                <a:cs typeface="Times New Roman" panose="02020603050405020304" pitchFamily="18" charset="0"/>
              </a:rPr>
            </a:br>
            <a:r>
              <a:rPr lang="en-US" sz="13200" b="1"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STUDENT PLACEMENT MANAGEMENT SYSTEM</a:t>
            </a:r>
            <a:endParaRPr lang="en-IN" sz="13200"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84BE6B98-F800-80BB-F380-7CAAAED32A1F}"/>
              </a:ext>
            </a:extLst>
          </p:cNvPr>
          <p:cNvSpPr>
            <a:spLocks noChangeArrowheads="1"/>
          </p:cNvSpPr>
          <p:nvPr/>
        </p:nvSpPr>
        <p:spPr bwMode="auto">
          <a:xfrm>
            <a:off x="504825" y="144463"/>
            <a:ext cx="9070975" cy="755650"/>
          </a:xfrm>
          <a:prstGeom prst="rect">
            <a:avLst/>
          </a:prstGeom>
          <a:noFill/>
          <a:ln>
            <a:noFill/>
          </a:ln>
          <a:effec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OUTLINE</a:t>
            </a:r>
          </a:p>
        </p:txBody>
      </p:sp>
      <p:sp>
        <p:nvSpPr>
          <p:cNvPr id="8195" name="Rectangle 2">
            <a:extLst>
              <a:ext uri="{FF2B5EF4-FFF2-40B4-BE49-F238E27FC236}">
                <a16:creationId xmlns:a16="http://schemas.microsoft.com/office/drawing/2014/main" id="{46E28478-24F5-0A7B-DDD0-04AC091ED153}"/>
              </a:ext>
            </a:extLst>
          </p:cNvPr>
          <p:cNvSpPr>
            <a:spLocks noChangeArrowheads="1"/>
          </p:cNvSpPr>
          <p:nvPr/>
        </p:nvSpPr>
        <p:spPr bwMode="auto">
          <a:xfrm>
            <a:off x="504825" y="990600"/>
            <a:ext cx="9323388" cy="631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50850" indent="-3429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Introduction</a:t>
            </a:r>
          </a:p>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Literature Survey</a:t>
            </a:r>
          </a:p>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Limitations of  existing systems</a:t>
            </a:r>
          </a:p>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Problem statement and Objectives</a:t>
            </a: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Proposed Methodology </a:t>
            </a: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Experimental Setup</a:t>
            </a: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Implementation</a:t>
            </a: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Results &amp; Analysis</a:t>
            </a:r>
          </a:p>
          <a:p>
            <a:pPr algn="just">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Conclusion and Future work</a:t>
            </a:r>
          </a:p>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References</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6D7A650A-398C-D9AA-19C3-80B22CFF4EE4}"/>
              </a:ext>
            </a:extLst>
          </p:cNvPr>
          <p:cNvSpPr>
            <a:spLocks noChangeArrowheads="1"/>
          </p:cNvSpPr>
          <p:nvPr/>
        </p:nvSpPr>
        <p:spPr bwMode="auto">
          <a:xfrm>
            <a:off x="0" y="179388"/>
            <a:ext cx="9863138" cy="576262"/>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4000" b="1" u="sng" dirty="0">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7FA9A6E4-83B9-D07C-2681-830359D5AD79}"/>
              </a:ext>
            </a:extLst>
          </p:cNvPr>
          <p:cNvSpPr txBox="1">
            <a:spLocks/>
          </p:cNvSpPr>
          <p:nvPr/>
        </p:nvSpPr>
        <p:spPr bwMode="auto">
          <a:xfrm>
            <a:off x="215776" y="1048066"/>
            <a:ext cx="9251950" cy="6337300"/>
          </a:xfrm>
          <a:prstGeom prst="rect">
            <a:avLst/>
          </a:prstGeom>
          <a:noFill/>
          <a:ln>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defRPr/>
            </a:pPr>
            <a:r>
              <a:rPr lang="en-US"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BACKGROUND:</a:t>
            </a:r>
          </a:p>
          <a:p>
            <a:pPr algn="just">
              <a:defRPr/>
            </a:pPr>
            <a:r>
              <a:rPr lang="en-US" sz="2400" dirty="0">
                <a:latin typeface="Times New Roman" panose="02020603050405020304" pitchFamily="18" charset="0"/>
                <a:cs typeface="Times New Roman" panose="02020603050405020304" pitchFamily="18" charset="0"/>
              </a:rPr>
              <a:t> In our college, the placement process was traditionally managed using Google Forms for collecting student data.</a:t>
            </a:r>
          </a:p>
          <a:p>
            <a:pPr algn="just">
              <a:defRPr/>
            </a:pPr>
            <a:r>
              <a:rPr lang="en-US" sz="2400" dirty="0">
                <a:latin typeface="Times New Roman" panose="02020603050405020304" pitchFamily="18" charset="0"/>
                <a:cs typeface="Times New Roman" panose="02020603050405020304" pitchFamily="18" charset="0"/>
              </a:rPr>
              <a:t> After students filled the form, their responses were manually transferred and maintained in Excel sheets.</a:t>
            </a:r>
          </a:p>
          <a:p>
            <a:pPr algn="just">
              <a:defRPr/>
            </a:pPr>
            <a:r>
              <a:rPr lang="en-US" sz="2400" dirty="0">
                <a:latin typeface="Times New Roman" panose="02020603050405020304" pitchFamily="18" charset="0"/>
                <a:cs typeface="Times New Roman" panose="02020603050405020304" pitchFamily="18" charset="0"/>
              </a:rPr>
              <a:t> Whenever a new company visited the campus, the placement officer shared the company details in WhatsApp groups.</a:t>
            </a:r>
          </a:p>
          <a:p>
            <a:pPr algn="just">
              <a:defRPr/>
            </a:pPr>
            <a:r>
              <a:rPr lang="en-US" sz="2400" dirty="0">
                <a:latin typeface="Times New Roman" panose="02020603050405020304" pitchFamily="18" charset="0"/>
                <a:cs typeface="Times New Roman" panose="02020603050405020304" pitchFamily="18" charset="0"/>
              </a:rPr>
              <a:t> As the number of students increased, managing records manually became difficult. Filtering eligible students based on CGPA, branch, or other criteria required manual checking in Excel sheets.</a:t>
            </a:r>
          </a:p>
          <a:p>
            <a:pPr algn="just">
              <a:defRPr/>
            </a:pPr>
            <a:r>
              <a:rPr lang="en-US" sz="2400" dirty="0">
                <a:latin typeface="Times New Roman" panose="02020603050405020304" pitchFamily="18" charset="0"/>
                <a:cs typeface="Times New Roman" panose="02020603050405020304" pitchFamily="18" charset="0"/>
              </a:rPr>
              <a:t>  This process was time-consuming and prone to human errors. To overcome these issues, we developed a *</a:t>
            </a:r>
            <a:r>
              <a:rPr lang="en-US" sz="2400" b="1" dirty="0">
                <a:latin typeface="Times New Roman" panose="02020603050405020304" pitchFamily="18" charset="0"/>
                <a:cs typeface="Times New Roman" panose="02020603050405020304" pitchFamily="18" charset="0"/>
              </a:rPr>
              <a:t>Digital Student Placement Management System</a:t>
            </a:r>
            <a:r>
              <a:rPr lang="en-US" sz="2400" dirty="0">
                <a:latin typeface="Times New Roman" panose="02020603050405020304" pitchFamily="18" charset="0"/>
                <a:cs typeface="Times New Roman" panose="02020603050405020304" pitchFamily="18" charset="0"/>
              </a:rPr>
              <a:t>* using HTML, CSS, JavaScript, and MYSQL.</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9CA7BF-519B-6DDD-FFCE-319499AAAF34}"/>
              </a:ext>
            </a:extLst>
          </p:cNvPr>
          <p:cNvSpPr>
            <a:spLocks noGrp="1"/>
          </p:cNvSpPr>
          <p:nvPr>
            <p:ph idx="1"/>
          </p:nvPr>
        </p:nvSpPr>
        <p:spPr>
          <a:xfrm>
            <a:off x="0" y="0"/>
            <a:ext cx="10080625" cy="7559675"/>
          </a:xfrm>
        </p:spPr>
        <p:txBody>
          <a:bodyPr/>
          <a:lstStyle/>
          <a:p>
            <a:pPr marL="0" indent="0">
              <a:buFont typeface="Wingdings 3" panose="05040102010807070707" pitchFamily="18" charset="2"/>
              <a:buNone/>
              <a:defRPr/>
            </a:pPr>
            <a:r>
              <a:rPr lang="en-US" sz="2200" b="1"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IMPORTANCE OF THE PROBLEM:</a:t>
            </a:r>
          </a:p>
          <a:p>
            <a:pPr marL="0" indent="0">
              <a:buFont typeface="Wingdings 3" panose="05040102010807070707" pitchFamily="18" charset="2"/>
              <a:buNone/>
              <a:defRPr/>
            </a:pPr>
            <a:r>
              <a:rPr lang="en-US" sz="2200" dirty="0">
                <a:solidFill>
                  <a:schemeClr val="tx1"/>
                </a:solidFill>
                <a:latin typeface="Times New Roman" panose="02020603050405020304" pitchFamily="18" charset="0"/>
                <a:cs typeface="Times New Roman" panose="02020603050405020304" pitchFamily="18" charset="0"/>
              </a:rPr>
              <a:t>Placement management is a critical process in educational institutions. An inefficient system can lead to:</a:t>
            </a:r>
          </a:p>
          <a:p>
            <a:pPr>
              <a:defRPr/>
            </a:pPr>
            <a:r>
              <a:rPr lang="en-US" sz="2200" dirty="0">
                <a:solidFill>
                  <a:schemeClr val="tx1"/>
                </a:solidFill>
                <a:latin typeface="Times New Roman" panose="02020603050405020304" pitchFamily="18" charset="0"/>
                <a:cs typeface="Times New Roman" panose="02020603050405020304" pitchFamily="18" charset="0"/>
              </a:rPr>
              <a:t> Delayed communication</a:t>
            </a:r>
          </a:p>
          <a:p>
            <a:pPr>
              <a:defRPr/>
            </a:pPr>
            <a:r>
              <a:rPr lang="en-US" sz="2200" dirty="0">
                <a:solidFill>
                  <a:schemeClr val="tx1"/>
                </a:solidFill>
                <a:latin typeface="Times New Roman" panose="02020603050405020304" pitchFamily="18" charset="0"/>
                <a:cs typeface="Times New Roman" panose="02020603050405020304" pitchFamily="18" charset="0"/>
              </a:rPr>
              <a:t>Incorrect eligibility selection </a:t>
            </a:r>
          </a:p>
          <a:p>
            <a:pPr>
              <a:defRPr/>
            </a:pPr>
            <a:r>
              <a:rPr lang="en-US" sz="2200" dirty="0">
                <a:solidFill>
                  <a:schemeClr val="tx1"/>
                </a:solidFill>
                <a:latin typeface="Times New Roman" panose="02020603050405020304" pitchFamily="18" charset="0"/>
                <a:cs typeface="Times New Roman" panose="02020603050405020304" pitchFamily="18" charset="0"/>
              </a:rPr>
              <a:t>Data inconsistency</a:t>
            </a:r>
          </a:p>
          <a:p>
            <a:pPr>
              <a:defRPr/>
            </a:pPr>
            <a:r>
              <a:rPr lang="en-US" sz="2200" dirty="0">
                <a:solidFill>
                  <a:schemeClr val="tx1"/>
                </a:solidFill>
                <a:latin typeface="Times New Roman" panose="02020603050405020304" pitchFamily="18" charset="0"/>
                <a:cs typeface="Times New Roman" panose="02020603050405020304" pitchFamily="18" charset="0"/>
              </a:rPr>
              <a:t>Lack of transparency</a:t>
            </a:r>
          </a:p>
          <a:p>
            <a:pPr marL="0" indent="0">
              <a:buFont typeface="Wingdings 3" panose="05040102010807070707" pitchFamily="18" charset="2"/>
              <a:buNone/>
              <a:defRPr/>
            </a:pPr>
            <a:r>
              <a:rPr lang="en-US" sz="2200" dirty="0">
                <a:solidFill>
                  <a:schemeClr val="tx1"/>
                </a:solidFill>
                <a:latin typeface="Times New Roman" panose="02020603050405020304" pitchFamily="18" charset="0"/>
                <a:cs typeface="Times New Roman" panose="02020603050405020304" pitchFamily="18" charset="0"/>
              </a:rPr>
              <a:t>A structured digital system ensures better organization, faster processing, and improved reliability.</a:t>
            </a:r>
            <a:br>
              <a:rPr lang="en-US" sz="22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200" b="1"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CURRENT CHALLENGES:</a:t>
            </a:r>
          </a:p>
          <a:p>
            <a:pPr>
              <a:defRPr/>
            </a:pPr>
            <a:r>
              <a:rPr lang="en-US" sz="22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Repeated creation of Google Forms for every company.</a:t>
            </a:r>
          </a:p>
          <a:p>
            <a:pPr>
              <a:defRPr/>
            </a:pPr>
            <a:r>
              <a:rPr lang="en-US" sz="2200" dirty="0">
                <a:solidFill>
                  <a:schemeClr val="tx1"/>
                </a:solidFill>
                <a:latin typeface="Times New Roman" panose="02020603050405020304" pitchFamily="18" charset="0"/>
                <a:cs typeface="Times New Roman" panose="02020603050405020304" pitchFamily="18" charset="0"/>
              </a:rPr>
              <a:t> Manual updating and maintenance of Excel sheets.</a:t>
            </a:r>
          </a:p>
          <a:p>
            <a:pPr>
              <a:defRPr/>
            </a:pPr>
            <a:r>
              <a:rPr lang="en-US" sz="2200" dirty="0">
                <a:solidFill>
                  <a:schemeClr val="tx1"/>
                </a:solidFill>
                <a:latin typeface="Times New Roman" panose="02020603050405020304" pitchFamily="18" charset="0"/>
                <a:cs typeface="Times New Roman" panose="02020603050405020304" pitchFamily="18" charset="0"/>
              </a:rPr>
              <a:t> Manual checking of eligibility criteria.</a:t>
            </a:r>
          </a:p>
          <a:p>
            <a:pPr>
              <a:defRPr/>
            </a:pPr>
            <a:r>
              <a:rPr lang="en-US" sz="2200" dirty="0">
                <a:solidFill>
                  <a:schemeClr val="tx1"/>
                </a:solidFill>
                <a:latin typeface="Times New Roman" panose="02020603050405020304" pitchFamily="18" charset="0"/>
                <a:cs typeface="Times New Roman" panose="02020603050405020304" pitchFamily="18" charset="0"/>
              </a:rPr>
              <a:t> Scattered communication via WhatsApp groups.</a:t>
            </a:r>
          </a:p>
          <a:p>
            <a:pPr>
              <a:defRPr/>
            </a:pPr>
            <a:r>
              <a:rPr lang="en-US" sz="2200" dirty="0">
                <a:solidFill>
                  <a:schemeClr val="tx1"/>
                </a:solidFill>
                <a:latin typeface="Times New Roman" panose="02020603050405020304" pitchFamily="18" charset="0"/>
                <a:cs typeface="Times New Roman" panose="02020603050405020304" pitchFamily="18" charset="0"/>
              </a:rPr>
              <a:t> Difficulty in managing large volumes of student data.</a:t>
            </a:r>
          </a:p>
          <a:p>
            <a:pPr>
              <a:defRPr/>
            </a:pPr>
            <a:r>
              <a:rPr lang="en-US" sz="2200" dirty="0">
                <a:solidFill>
                  <a:schemeClr val="tx1"/>
                </a:solidFill>
                <a:latin typeface="Times New Roman" panose="02020603050405020304" pitchFamily="18" charset="0"/>
                <a:cs typeface="Times New Roman" panose="02020603050405020304" pitchFamily="18" charset="0"/>
              </a:rPr>
              <a:t> No centralized tracking of applications.</a:t>
            </a:r>
          </a:p>
          <a:p>
            <a:pPr>
              <a:defRPr/>
            </a:pPr>
            <a:r>
              <a:rPr lang="en-IN" sz="2200" dirty="0">
                <a:latin typeface="Times New Roman" panose="02020603050405020304" pitchFamily="18" charset="0"/>
                <a:cs typeface="Times New Roman" panose="02020603050405020304" pitchFamily="18" charset="0"/>
              </a:rPr>
              <a:t>Time-consuming and error-prone process</a:t>
            </a:r>
            <a:endParaRPr lang="en-US" sz="2200" dirty="0">
              <a:solidFill>
                <a:schemeClr val="tx1"/>
              </a:solidFill>
              <a:latin typeface="Times New Roman" panose="02020603050405020304" pitchFamily="18" charset="0"/>
              <a:cs typeface="Times New Roman" panose="02020603050405020304" pitchFamily="18" charset="0"/>
            </a:endParaRPr>
          </a:p>
          <a:p>
            <a:pPr marL="0" indent="0">
              <a:buFont typeface="Wingdings 3" panose="05040102010807070707" pitchFamily="18" charset="2"/>
              <a:buNone/>
              <a:defRPr/>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D157A46-9032-EB46-35E3-E59F034746A8}"/>
              </a:ext>
            </a:extLst>
          </p:cNvPr>
          <p:cNvSpPr txBox="1">
            <a:spLocks/>
          </p:cNvSpPr>
          <p:nvPr/>
        </p:nvSpPr>
        <p:spPr bwMode="auto">
          <a:xfrm>
            <a:off x="412750" y="466725"/>
            <a:ext cx="9251950" cy="6913563"/>
          </a:xfrm>
          <a:prstGeom prst="rect">
            <a:avLst/>
          </a:prstGeom>
          <a:noFill/>
          <a:ln>
            <a:noFill/>
          </a:ln>
        </p:spPr>
        <p:txBody>
          <a:bodyPr>
            <a:normAutofit/>
          </a:bodyPr>
          <a:lstStyle>
            <a:lvl1pPr>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spcBef>
                <a:spcPct val="20000"/>
              </a:spcBef>
              <a:buClrTx/>
              <a:buSzTx/>
              <a:buFont typeface="Arial" panose="020B0604020202020204" pitchFamily="34" charset="0"/>
              <a:buNone/>
            </a:pPr>
            <a:r>
              <a:rPr lang="en-US" altLang="en-US" sz="2400" b="1" u="sng"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MOTIVATION</a:t>
            </a:r>
            <a:r>
              <a:rPr lang="en-US" altLang="en-US" sz="24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(Mapped with SDG 4 – Quality Education)</a:t>
            </a:r>
          </a:p>
          <a:p>
            <a:pPr>
              <a:spcBef>
                <a:spcPct val="20000"/>
              </a:spcBef>
              <a:buClrTx/>
              <a:buSzTx/>
              <a:buFont typeface="Arial" panose="020B0604020202020204" pitchFamily="34" charset="0"/>
              <a:buNone/>
            </a:pPr>
            <a:r>
              <a:rPr lang="en-US" altLang="en-US" sz="2400" dirty="0">
                <a:solidFill>
                  <a:schemeClr val="tx1"/>
                </a:solidFill>
                <a:latin typeface="Times New Roman" panose="02020603050405020304" pitchFamily="18" charset="0"/>
                <a:cs typeface="Times New Roman" panose="02020603050405020304" pitchFamily="18" charset="0"/>
              </a:rPr>
              <a:t>The motivation behind this project was the need to improve the efficiency of placement management and contribute towards </a:t>
            </a:r>
          </a:p>
          <a:p>
            <a:pPr>
              <a:spcBef>
                <a:spcPct val="20000"/>
              </a:spcBef>
              <a:buClrTx/>
              <a:buSzTx/>
              <a:buFont typeface="Arial" panose="020B0604020202020204" pitchFamily="34" charset="0"/>
              <a:buNone/>
            </a:pPr>
            <a:r>
              <a:rPr lang="en-US" altLang="en-US" sz="2400" dirty="0">
                <a:solidFill>
                  <a:schemeClr val="tx1"/>
                </a:solidFill>
                <a:latin typeface="Times New Roman" panose="02020603050405020304" pitchFamily="18" charset="0"/>
                <a:cs typeface="Times New Roman" panose="02020603050405020304" pitchFamily="18" charset="0"/>
              </a:rPr>
              <a:t>*</a:t>
            </a:r>
            <a:r>
              <a:rPr lang="en-US" altLang="en-US" sz="2400" b="1" dirty="0">
                <a:solidFill>
                  <a:schemeClr val="tx1"/>
                </a:solidFill>
                <a:latin typeface="Times New Roman" panose="02020603050405020304" pitchFamily="18" charset="0"/>
                <a:cs typeface="Times New Roman" panose="02020603050405020304" pitchFamily="18" charset="0"/>
              </a:rPr>
              <a:t>SDG 4 (Quality Education)</a:t>
            </a:r>
            <a:r>
              <a:rPr lang="en-US" altLang="en-US" sz="2400" dirty="0">
                <a:solidFill>
                  <a:schemeClr val="tx1"/>
                </a:solidFill>
                <a:latin typeface="Times New Roman" panose="02020603050405020304" pitchFamily="18" charset="0"/>
                <a:cs typeface="Times New Roman" panose="02020603050405020304" pitchFamily="18" charset="0"/>
              </a:rPr>
              <a:t>*  by implementing digital transformation in academic administration. Observing delays, manual workload, and lack of automation strongly motivated us to develop a centralized web-based system.</a:t>
            </a:r>
          </a:p>
          <a:p>
            <a:pPr>
              <a:spcBef>
                <a:spcPct val="20000"/>
              </a:spcBef>
              <a:buClrTx/>
              <a:buSzTx/>
              <a:buFont typeface="Arial" panose="020B0604020202020204" pitchFamily="34" charset="0"/>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a:spcBef>
                <a:spcPct val="20000"/>
              </a:spcBef>
              <a:buClrTx/>
              <a:buSzTx/>
              <a:buFont typeface="Arial" panose="020B0604020202020204" pitchFamily="34" charset="0"/>
              <a:buNone/>
            </a:pPr>
            <a:r>
              <a:rPr lang="en-US" altLang="en-US" sz="2400" b="1" u="sng"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OBJECTIVES</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To create a centralized placement portal.</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 To replace Google Forms and Excel sheets.</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 To implement secure login for students, department </a:t>
            </a:r>
            <a:r>
              <a:rPr lang="en-US" altLang="en-US" sz="2400" dirty="0" err="1">
                <a:solidFill>
                  <a:schemeClr val="tx1"/>
                </a:solidFill>
                <a:latin typeface="Times New Roman" panose="02020603050405020304" pitchFamily="18" charset="0"/>
                <a:cs typeface="Times New Roman" panose="02020603050405020304" pitchFamily="18" charset="0"/>
              </a:rPr>
              <a:t>admin,TPO</a:t>
            </a:r>
            <a:r>
              <a:rPr lang="en-US" altLang="en-US" sz="2400" dirty="0">
                <a:solidFill>
                  <a:schemeClr val="tx1"/>
                </a:solidFill>
                <a:latin typeface="Times New Roman" panose="02020603050405020304" pitchFamily="18" charset="0"/>
                <a:cs typeface="Times New Roman" panose="02020603050405020304" pitchFamily="18" charset="0"/>
              </a:rPr>
              <a:t>.</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 To allow real-time company updates.</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 To enable structured storage of student and company data.</a:t>
            </a:r>
          </a:p>
          <a:p>
            <a:pPr>
              <a:spcBef>
                <a:spcPct val="20000"/>
              </a:spcBef>
              <a:buClrTx/>
              <a:buSzTx/>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 To automate the application tracking process.</a:t>
            </a:r>
            <a:endParaRPr lang="en-IN" altLang="en-US" sz="2400" dirty="0">
              <a:solidFill>
                <a:schemeClr val="tx1"/>
              </a:solidFill>
              <a:latin typeface="Times New Roman" panose="02020603050405020304" pitchFamily="18" charset="0"/>
              <a:cs typeface="Times New Roman" panose="02020603050405020304" pitchFamily="18" charset="0"/>
            </a:endParaRPr>
          </a:p>
          <a:p>
            <a:pPr>
              <a:spcBef>
                <a:spcPct val="20000"/>
              </a:spcBef>
              <a:buClrTx/>
              <a:buSzTx/>
              <a:buFont typeface="Arial" panose="020B0604020202020204" pitchFamily="34" charset="0"/>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a:spcBef>
                <a:spcPct val="20000"/>
              </a:spcBef>
              <a:buClrTx/>
              <a:buSzTx/>
              <a:buFont typeface="Arial" panose="020B0604020202020204" pitchFamily="34" charset="0"/>
              <a:buNone/>
            </a:pPr>
            <a:endParaRPr lang="en-US" altLang="en-US" sz="2400" b="1"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27FB1742-0A2F-98A5-B9DD-12CCEA2A5639}"/>
              </a:ext>
            </a:extLst>
          </p:cNvPr>
          <p:cNvSpPr>
            <a:spLocks noChangeArrowheads="1"/>
          </p:cNvSpPr>
          <p:nvPr/>
        </p:nvSpPr>
        <p:spPr bwMode="auto">
          <a:xfrm>
            <a:off x="396875" y="107950"/>
            <a:ext cx="9070975" cy="46672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4000" b="1" dirty="0">
                <a:solidFill>
                  <a:schemeClr val="accent1"/>
                </a:solidFill>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4000" b="1" u="sng" dirty="0">
                <a:effectLst>
                  <a:outerShdw blurRad="38100" dist="38100" dir="2700000" algn="tl">
                    <a:srgbClr val="000000">
                      <a:alpha val="43137"/>
                    </a:srgbClr>
                  </a:outerShdw>
                </a:effectLst>
                <a:latin typeface="Times New Roman" panose="02020603050405020304" pitchFamily="18" charset="0"/>
                <a:cs typeface="DejaVu Sans" charset="0"/>
              </a:rPr>
              <a:t>LITERATURE</a:t>
            </a:r>
            <a:r>
              <a:rPr lang="en-IN" altLang="en-US" sz="4000" b="1" dirty="0">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4000" b="1" u="sng" dirty="0">
                <a:effectLst>
                  <a:outerShdw blurRad="38100" dist="38100" dir="2700000" algn="tl">
                    <a:srgbClr val="000000">
                      <a:alpha val="43137"/>
                    </a:srgbClr>
                  </a:outerShdw>
                </a:effectLst>
                <a:latin typeface="Times New Roman" panose="02020603050405020304" pitchFamily="18" charset="0"/>
                <a:cs typeface="DejaVu Sans" charset="0"/>
              </a:rPr>
              <a:t>SURVEY</a:t>
            </a:r>
            <a:r>
              <a:rPr lang="en-IN" altLang="en-US" sz="4000" b="1" dirty="0">
                <a:effectLst>
                  <a:outerShdw blurRad="38100" dist="38100" dir="2700000" algn="tl">
                    <a:srgbClr val="000000">
                      <a:alpha val="43137"/>
                    </a:srgbClr>
                  </a:outerShdw>
                </a:effectLst>
                <a:latin typeface="Times New Roman" panose="02020603050405020304" pitchFamily="18" charset="0"/>
                <a:cs typeface="DejaVu Sans" charset="0"/>
              </a:rPr>
              <a:t> </a:t>
            </a:r>
          </a:p>
        </p:txBody>
      </p:sp>
      <p:sp>
        <p:nvSpPr>
          <p:cNvPr id="18435" name="Rectangle 2">
            <a:extLst>
              <a:ext uri="{FF2B5EF4-FFF2-40B4-BE49-F238E27FC236}">
                <a16:creationId xmlns:a16="http://schemas.microsoft.com/office/drawing/2014/main" id="{66B3B5EE-7F02-8D06-9ECC-910B3E937029}"/>
              </a:ext>
            </a:extLst>
          </p:cNvPr>
          <p:cNvSpPr>
            <a:spLocks noChangeArrowheads="1"/>
          </p:cNvSpPr>
          <p:nvPr/>
        </p:nvSpPr>
        <p:spPr bwMode="auto">
          <a:xfrm>
            <a:off x="0" y="971550"/>
            <a:ext cx="10080625" cy="6840538"/>
          </a:xfrm>
          <a:prstGeom prst="rect">
            <a:avLst/>
          </a:prstGeom>
          <a:noFill/>
          <a:ln>
            <a:noFill/>
          </a:ln>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r>
              <a:rPr lang="en-US" altLang="en-US" sz="2400" b="1" u="sng" dirty="0">
                <a:effectLst>
                  <a:outerShdw blurRad="38100" dist="38100" dir="2700000" algn="tl">
                    <a:srgbClr val="C0C0C0"/>
                  </a:outerShdw>
                </a:effectLst>
                <a:latin typeface="Times New Roman" panose="02020603050405020304" pitchFamily="18" charset="0"/>
                <a:cs typeface="Times New Roman" panose="02020603050405020304" pitchFamily="18" charset="0"/>
              </a:rPr>
              <a:t>SURVEY OF EXISTING SOLUTIONS IN THE REAL WORLD</a:t>
            </a:r>
          </a:p>
          <a:p>
            <a:pPr marL="565150" indent="-457200" algn="just">
              <a:buFont typeface="+mj-lt"/>
              <a:buAutoNum type="arabicPeriod"/>
            </a:pPr>
            <a:r>
              <a:rPr lang="en-US" altLang="en-US" sz="2400" b="1" dirty="0">
                <a:latin typeface="Times New Roman" panose="02020603050405020304" pitchFamily="18" charset="0"/>
                <a:cs typeface="Times New Roman" panose="02020603050405020304" pitchFamily="18" charset="0"/>
              </a:rPr>
              <a:t>Manual Systems</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Excel sheets for student &amp; company data</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Manual eligibility checking</a:t>
            </a:r>
          </a:p>
          <a:p>
            <a:pPr algn="just"/>
            <a:r>
              <a:rPr lang="en-US" altLang="en-US" sz="2400" b="1" dirty="0">
                <a:latin typeface="Times New Roman" panose="02020603050405020304" pitchFamily="18" charset="0"/>
                <a:cs typeface="Times New Roman" panose="02020603050405020304" pitchFamily="18" charset="0"/>
              </a:rPr>
              <a:t>2.   Google Forms</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Collects student data</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Requires repeated form creation</a:t>
            </a:r>
          </a:p>
          <a:p>
            <a:pPr algn="just"/>
            <a:r>
              <a:rPr lang="en-US" altLang="en-US" sz="2400" b="1" dirty="0">
                <a:latin typeface="Times New Roman" panose="02020603050405020304" pitchFamily="18" charset="0"/>
                <a:cs typeface="Times New Roman" panose="02020603050405020304" pitchFamily="18" charset="0"/>
              </a:rPr>
              <a:t>3.   ERP Modules </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Centralized database</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High cost &amp; maintenance</a:t>
            </a:r>
          </a:p>
          <a:p>
            <a:pPr algn="just"/>
            <a:r>
              <a:rPr lang="en-US" altLang="en-US" sz="2400" b="1" dirty="0">
                <a:latin typeface="Times New Roman" panose="02020603050405020304" pitchFamily="18" charset="0"/>
                <a:cs typeface="Times New Roman" panose="02020603050405020304" pitchFamily="18" charset="0"/>
              </a:rPr>
              <a:t>4.  Campus Portals</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Web-based systems</a:t>
            </a: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Role-based login</a:t>
            </a:r>
          </a:p>
          <a:p>
            <a:pPr algn="just"/>
            <a:r>
              <a:rPr lang="en-US" altLang="en-US" sz="2400" dirty="0">
                <a:latin typeface="Times New Roman" panose="02020603050405020304" pitchFamily="18" charset="0"/>
                <a:cs typeface="Times New Roman" panose="02020603050405020304" pitchFamily="18" charset="0"/>
              </a:rPr>
              <a:t>Observation: Many institutions still use semi-manual methods.</a:t>
            </a:r>
          </a:p>
          <a:p>
            <a:pPr>
              <a:lnSpc>
                <a:spcPct val="150000"/>
              </a:lnSpc>
            </a:pP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pPr algn="just">
              <a:spcBef>
                <a:spcPct val="20000"/>
              </a:spcBef>
              <a:buFont typeface="Arial" panose="020B0604020202020204" pitchFamily="34" charset="0"/>
              <a:buChar char="•"/>
            </a:pPr>
            <a:endParaRPr lang="en-US" altLang="en-US" sz="2400" dirty="0">
              <a:solidFill>
                <a:srgbClr val="000000"/>
              </a:solidFill>
              <a:latin typeface="Times New Roman" panose="02020603050405020304" pitchFamily="18" charset="0"/>
              <a:cs typeface="Times New Roman" panose="02020603050405020304" pitchFamily="18" charset="0"/>
            </a:endParaRPr>
          </a:p>
          <a:p>
            <a:pPr eaLnBrk="1" hangingPunct="1">
              <a:lnSpc>
                <a:spcPct val="93000"/>
              </a:lnSpc>
              <a:spcAft>
                <a:spcPts val="1413"/>
              </a:spcAft>
            </a:pPr>
            <a:r>
              <a:rPr lang="en-IN" altLang="en-US" sz="3600" i="1" dirty="0">
                <a:solidFill>
                  <a:srgbClr val="FF0000"/>
                </a:solidFill>
                <a:latin typeface="Times New Roman" panose="02020603050405020304" pitchFamily="18" charset="0"/>
                <a:cs typeface="Times New Roman" panose="02020603050405020304" pitchFamily="18" charset="0"/>
              </a:rPr>
              <a:t>		</a:t>
            </a:r>
            <a:endParaRPr lang="en-IN" altLang="en-US" sz="3600"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8501B6-C4F9-F9D3-EE4D-7F07AB8F09A6}"/>
              </a:ext>
            </a:extLst>
          </p:cNvPr>
          <p:cNvSpPr>
            <a:spLocks noGrp="1"/>
          </p:cNvSpPr>
          <p:nvPr>
            <p:ph idx="1"/>
          </p:nvPr>
        </p:nvSpPr>
        <p:spPr>
          <a:xfrm>
            <a:off x="-30163" y="0"/>
            <a:ext cx="10080626" cy="7019925"/>
          </a:xfrm>
        </p:spPr>
        <p:txBody>
          <a:bodyPr/>
          <a:lstStyle/>
          <a:p>
            <a:pPr marL="0" indent="0" algn="ctr">
              <a:buFont typeface="Wingdings 3" panose="05040102010807070707" pitchFamily="18" charset="2"/>
              <a:buNone/>
              <a:defRPr/>
            </a:pPr>
            <a:r>
              <a:rPr lang="en-IN" sz="2800" b="1"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SUMMARY OF LITERATURE REVIEW</a:t>
            </a:r>
          </a:p>
          <a:p>
            <a:pPr marL="0" indent="0">
              <a:buFont typeface="Wingdings 3" panose="05040102010807070707" pitchFamily="18" charset="2"/>
              <a:buNone/>
              <a:defRPr/>
            </a:pPr>
            <a:endParaRPr lang="en-IN" sz="2400" b="1" u="sng" dirty="0">
              <a:effectLst>
                <a:outerShdw blurRad="38100" dist="38100" dir="2700000" algn="tl">
                  <a:srgbClr val="000000">
                    <a:alpha val="43137"/>
                  </a:srgbClr>
                </a:outerShdw>
              </a:effectLst>
            </a:endParaRPr>
          </a:p>
          <a:p>
            <a:pPr marL="0" indent="0">
              <a:buFont typeface="Wingdings 3" panose="05040102010807070707" pitchFamily="18" charset="2"/>
              <a:buNone/>
              <a:defRPr/>
            </a:pPr>
            <a:endParaRPr lang="en-IN" sz="2400" b="1" u="sng" dirty="0">
              <a:effectLst>
                <a:outerShdw blurRad="38100" dist="38100" dir="2700000" algn="tl">
                  <a:srgbClr val="000000">
                    <a:alpha val="43137"/>
                  </a:srgbClr>
                </a:outerShdw>
              </a:effectLst>
            </a:endParaRPr>
          </a:p>
        </p:txBody>
      </p:sp>
      <p:graphicFrame>
        <p:nvGraphicFramePr>
          <p:cNvPr id="4" name="Table 3">
            <a:extLst>
              <a:ext uri="{FF2B5EF4-FFF2-40B4-BE49-F238E27FC236}">
                <a16:creationId xmlns:a16="http://schemas.microsoft.com/office/drawing/2014/main" id="{79CBE4F6-4FC5-2253-C0C6-B18E9E4586DB}"/>
              </a:ext>
            </a:extLst>
          </p:cNvPr>
          <p:cNvGraphicFramePr>
            <a:graphicFrameLocks noGrp="1"/>
          </p:cNvGraphicFramePr>
          <p:nvPr/>
        </p:nvGraphicFramePr>
        <p:xfrm>
          <a:off x="215900" y="1619250"/>
          <a:ext cx="9648825" cy="5040313"/>
        </p:xfrm>
        <a:graphic>
          <a:graphicData uri="http://schemas.openxmlformats.org/drawingml/2006/table">
            <a:tbl>
              <a:tblPr/>
              <a:tblGrid>
                <a:gridCol w="1929765">
                  <a:extLst>
                    <a:ext uri="{9D8B030D-6E8A-4147-A177-3AD203B41FA5}">
                      <a16:colId xmlns:a16="http://schemas.microsoft.com/office/drawing/2014/main" val="20000"/>
                    </a:ext>
                  </a:extLst>
                </a:gridCol>
                <a:gridCol w="1929765">
                  <a:extLst>
                    <a:ext uri="{9D8B030D-6E8A-4147-A177-3AD203B41FA5}">
                      <a16:colId xmlns:a16="http://schemas.microsoft.com/office/drawing/2014/main" val="20001"/>
                    </a:ext>
                  </a:extLst>
                </a:gridCol>
                <a:gridCol w="1929765">
                  <a:extLst>
                    <a:ext uri="{9D8B030D-6E8A-4147-A177-3AD203B41FA5}">
                      <a16:colId xmlns:a16="http://schemas.microsoft.com/office/drawing/2014/main" val="20002"/>
                    </a:ext>
                  </a:extLst>
                </a:gridCol>
                <a:gridCol w="1929765">
                  <a:extLst>
                    <a:ext uri="{9D8B030D-6E8A-4147-A177-3AD203B41FA5}">
                      <a16:colId xmlns:a16="http://schemas.microsoft.com/office/drawing/2014/main" val="20003"/>
                    </a:ext>
                  </a:extLst>
                </a:gridCol>
                <a:gridCol w="1929765">
                  <a:extLst>
                    <a:ext uri="{9D8B030D-6E8A-4147-A177-3AD203B41FA5}">
                      <a16:colId xmlns:a16="http://schemas.microsoft.com/office/drawing/2014/main" val="20004"/>
                    </a:ext>
                  </a:extLst>
                </a:gridCol>
              </a:tblGrid>
              <a:tr h="573470">
                <a:tc>
                  <a:txBody>
                    <a:bodyPr/>
                    <a:lstStyle/>
                    <a:p>
                      <a:pPr>
                        <a:buNone/>
                      </a:pPr>
                      <a:endParaRPr lang="en-IN" sz="700" dirty="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extLst>
                  <a:ext uri="{0D108BD9-81ED-4DB2-BD59-A6C34878D82A}">
                    <a16:rowId xmlns:a16="http://schemas.microsoft.com/office/drawing/2014/main" val="10000"/>
                  </a:ext>
                </a:extLst>
              </a:tr>
              <a:tr h="1106635">
                <a:tc>
                  <a:txBody>
                    <a:bodyPr/>
                    <a:lstStyle/>
                    <a:p>
                      <a:pPr>
                        <a:buNone/>
                      </a:pPr>
                      <a:endParaRPr lang="en-IN" sz="700" dirty="0"/>
                    </a:p>
                  </a:txBody>
                  <a:tcPr marL="34212" marR="34212" marT="17107" marB="17107" anchor="ctr">
                    <a:lnL>
                      <a:noFill/>
                    </a:lnL>
                    <a:lnR>
                      <a:noFill/>
                    </a:lnR>
                    <a:lnT>
                      <a:noFill/>
                    </a:lnT>
                    <a:lnB>
                      <a:noFill/>
                    </a:lnB>
                    <a:noFill/>
                  </a:tcPr>
                </a:tc>
                <a:tc>
                  <a:txBody>
                    <a:bodyPr/>
                    <a:lstStyle/>
                    <a:p>
                      <a:pPr>
                        <a:buNone/>
                      </a:pPr>
                      <a:endParaRPr lang="en-US" sz="700" dirty="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extLst>
                  <a:ext uri="{0D108BD9-81ED-4DB2-BD59-A6C34878D82A}">
                    <a16:rowId xmlns:a16="http://schemas.microsoft.com/office/drawing/2014/main" val="10001"/>
                  </a:ext>
                </a:extLst>
              </a:tr>
              <a:tr h="840052">
                <a:tc>
                  <a:txBody>
                    <a:bodyPr/>
                    <a:lstStyle/>
                    <a:p>
                      <a:pPr>
                        <a:buNone/>
                      </a:pPr>
                      <a:endParaRPr lang="da-DK" sz="700"/>
                    </a:p>
                  </a:txBody>
                  <a:tcPr marL="34212" marR="34212" marT="17107" marB="17107" anchor="ctr">
                    <a:lnL>
                      <a:noFill/>
                    </a:lnL>
                    <a:lnR>
                      <a:noFill/>
                    </a:lnR>
                    <a:lnT>
                      <a:noFill/>
                    </a:lnT>
                    <a:lnB>
                      <a:noFill/>
                    </a:lnB>
                    <a:noFill/>
                  </a:tcPr>
                </a:tc>
                <a:tc>
                  <a:txBody>
                    <a:bodyPr/>
                    <a:lstStyle/>
                    <a:p>
                      <a:pPr>
                        <a:buNone/>
                      </a:pPr>
                      <a:endParaRPr lang="en-IN" sz="700" dirty="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extLst>
                  <a:ext uri="{0D108BD9-81ED-4DB2-BD59-A6C34878D82A}">
                    <a16:rowId xmlns:a16="http://schemas.microsoft.com/office/drawing/2014/main" val="10002"/>
                  </a:ext>
                </a:extLst>
              </a:tr>
              <a:tr h="973343">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IN" sz="700" dirty="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extLst>
                  <a:ext uri="{0D108BD9-81ED-4DB2-BD59-A6C34878D82A}">
                    <a16:rowId xmlns:a16="http://schemas.microsoft.com/office/drawing/2014/main" val="10003"/>
                  </a:ext>
                </a:extLst>
              </a:tr>
              <a:tr h="706761">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US" sz="700" dirty="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extLst>
                  <a:ext uri="{0D108BD9-81ED-4DB2-BD59-A6C34878D82A}">
                    <a16:rowId xmlns:a16="http://schemas.microsoft.com/office/drawing/2014/main" val="10004"/>
                  </a:ext>
                </a:extLst>
              </a:tr>
              <a:tr h="840052">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US" sz="700"/>
                    </a:p>
                  </a:txBody>
                  <a:tcPr marL="34212" marR="34212" marT="17107" marB="17107" anchor="ctr">
                    <a:lnL>
                      <a:noFill/>
                    </a:lnL>
                    <a:lnR>
                      <a:noFill/>
                    </a:lnR>
                    <a:lnT>
                      <a:noFill/>
                    </a:lnT>
                    <a:lnB>
                      <a:noFill/>
                    </a:lnB>
                    <a:noFill/>
                  </a:tcPr>
                </a:tc>
                <a:tc>
                  <a:txBody>
                    <a:bodyPr/>
                    <a:lstStyle/>
                    <a:p>
                      <a:pPr>
                        <a:buNone/>
                      </a:pPr>
                      <a:endParaRPr lang="en-IN" sz="700"/>
                    </a:p>
                  </a:txBody>
                  <a:tcPr marL="34212" marR="34212" marT="17107" marB="17107" anchor="ctr">
                    <a:lnL>
                      <a:noFill/>
                    </a:lnL>
                    <a:lnR>
                      <a:noFill/>
                    </a:lnR>
                    <a:lnT>
                      <a:noFill/>
                    </a:lnT>
                    <a:lnB>
                      <a:noFill/>
                    </a:lnB>
                    <a:noFill/>
                  </a:tcPr>
                </a:tc>
                <a:tc>
                  <a:txBody>
                    <a:bodyPr/>
                    <a:lstStyle/>
                    <a:p>
                      <a:pPr>
                        <a:buNone/>
                      </a:pPr>
                      <a:endParaRPr lang="en-IN" sz="700" dirty="0"/>
                    </a:p>
                  </a:txBody>
                  <a:tcPr marL="34212" marR="34212" marT="17107" marB="17107" anchor="ctr">
                    <a:lnL>
                      <a:noFill/>
                    </a:lnL>
                    <a:lnR>
                      <a:noFill/>
                    </a:lnR>
                    <a:lnT>
                      <a:noFill/>
                    </a:lnT>
                    <a:lnB>
                      <a:noFill/>
                    </a:lnB>
                    <a:noFill/>
                  </a:tcPr>
                </a:tc>
                <a:tc>
                  <a:txBody>
                    <a:bodyPr/>
                    <a:lstStyle/>
                    <a:p>
                      <a:pPr>
                        <a:buNone/>
                      </a:pPr>
                      <a:endParaRPr lang="en-US" sz="700" dirty="0"/>
                    </a:p>
                  </a:txBody>
                  <a:tcPr marL="34212" marR="34212" marT="17107" marB="17107"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graphicFrame>
        <p:nvGraphicFramePr>
          <p:cNvPr id="5" name="Table 4">
            <a:extLst>
              <a:ext uri="{FF2B5EF4-FFF2-40B4-BE49-F238E27FC236}">
                <a16:creationId xmlns:a16="http://schemas.microsoft.com/office/drawing/2014/main" id="{803A0F29-C972-7E7F-9B76-D262B1971248}"/>
              </a:ext>
            </a:extLst>
          </p:cNvPr>
          <p:cNvGraphicFramePr>
            <a:graphicFrameLocks noGrp="1"/>
          </p:cNvGraphicFramePr>
          <p:nvPr>
            <p:extLst>
              <p:ext uri="{D42A27DB-BD31-4B8C-83A1-F6EECF244321}">
                <p14:modId xmlns:p14="http://schemas.microsoft.com/office/powerpoint/2010/main" val="4054954270"/>
              </p:ext>
            </p:extLst>
          </p:nvPr>
        </p:nvGraphicFramePr>
        <p:xfrm>
          <a:off x="30163" y="911225"/>
          <a:ext cx="10080625" cy="5926900"/>
        </p:xfrm>
        <a:graphic>
          <a:graphicData uri="http://schemas.openxmlformats.org/drawingml/2006/table">
            <a:tbl>
              <a:tblPr firstRow="1">
                <a:tableStyleId>{21E4AEA4-8DFA-4A89-87EB-49C32662AFE0}</a:tableStyleId>
              </a:tblPr>
              <a:tblGrid>
                <a:gridCol w="2016125">
                  <a:extLst>
                    <a:ext uri="{9D8B030D-6E8A-4147-A177-3AD203B41FA5}">
                      <a16:colId xmlns:a16="http://schemas.microsoft.com/office/drawing/2014/main" val="20000"/>
                    </a:ext>
                  </a:extLst>
                </a:gridCol>
                <a:gridCol w="2016125">
                  <a:extLst>
                    <a:ext uri="{9D8B030D-6E8A-4147-A177-3AD203B41FA5}">
                      <a16:colId xmlns:a16="http://schemas.microsoft.com/office/drawing/2014/main" val="20001"/>
                    </a:ext>
                  </a:extLst>
                </a:gridCol>
                <a:gridCol w="2016125">
                  <a:extLst>
                    <a:ext uri="{9D8B030D-6E8A-4147-A177-3AD203B41FA5}">
                      <a16:colId xmlns:a16="http://schemas.microsoft.com/office/drawing/2014/main" val="20002"/>
                    </a:ext>
                  </a:extLst>
                </a:gridCol>
                <a:gridCol w="2016125">
                  <a:extLst>
                    <a:ext uri="{9D8B030D-6E8A-4147-A177-3AD203B41FA5}">
                      <a16:colId xmlns:a16="http://schemas.microsoft.com/office/drawing/2014/main" val="20003"/>
                    </a:ext>
                  </a:extLst>
                </a:gridCol>
                <a:gridCol w="2016125">
                  <a:extLst>
                    <a:ext uri="{9D8B030D-6E8A-4147-A177-3AD203B41FA5}">
                      <a16:colId xmlns:a16="http://schemas.microsoft.com/office/drawing/2014/main" val="20004"/>
                    </a:ext>
                  </a:extLst>
                </a:gridCol>
              </a:tblGrid>
              <a:tr h="832256">
                <a:tc>
                  <a:txBody>
                    <a:bodyPr/>
                    <a:lstStyle/>
                    <a:p>
                      <a:pPr>
                        <a:buNone/>
                      </a:pPr>
                      <a:r>
                        <a:rPr lang="en-IN" sz="2000" dirty="0">
                          <a:latin typeface="Times New Roman" panose="02020603050405020304" pitchFamily="18" charset="0"/>
                          <a:cs typeface="Times New Roman" panose="02020603050405020304" pitchFamily="18" charset="0"/>
                        </a:rPr>
                        <a:t>Author &amp; Year with Citation [ ]</a:t>
                      </a:r>
                    </a:p>
                  </a:txBody>
                  <a:tcPr marT="45725" marB="45725" anchor="ctr"/>
                </a:tc>
                <a:tc>
                  <a:txBody>
                    <a:bodyPr/>
                    <a:lstStyle/>
                    <a:p>
                      <a:pPr>
                        <a:buNone/>
                      </a:pPr>
                      <a:r>
                        <a:rPr lang="en-IN" sz="2000">
                          <a:latin typeface="Times New Roman" panose="02020603050405020304" pitchFamily="18" charset="0"/>
                          <a:cs typeface="Times New Roman" panose="02020603050405020304" pitchFamily="18" charset="0"/>
                        </a:rPr>
                        <a:t>Techniques / Method Used</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Dataset Used</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Key Results</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Limitations</a:t>
                      </a:r>
                    </a:p>
                  </a:txBody>
                  <a:tcPr marT="45725" marB="45725" anchor="ctr"/>
                </a:tc>
                <a:extLst>
                  <a:ext uri="{0D108BD9-81ED-4DB2-BD59-A6C34878D82A}">
                    <a16:rowId xmlns:a16="http://schemas.microsoft.com/office/drawing/2014/main" val="10000"/>
                  </a:ext>
                </a:extLst>
              </a:tr>
              <a:tr h="1603561">
                <a:tc>
                  <a:txBody>
                    <a:bodyPr/>
                    <a:lstStyle/>
                    <a:p>
                      <a:pPr>
                        <a:buNone/>
                      </a:pPr>
                      <a:r>
                        <a:rPr lang="en-IN" sz="2000" dirty="0">
                          <a:latin typeface="Times New Roman" panose="02020603050405020304" pitchFamily="18" charset="0"/>
                          <a:cs typeface="Times New Roman" panose="02020603050405020304" pitchFamily="18" charset="0"/>
                        </a:rPr>
                        <a:t>Sharma &amp; Patel, 2019 [1]</a:t>
                      </a:r>
                    </a:p>
                  </a:txBody>
                  <a:tcPr marT="45725" marB="45725" anchor="ctr"/>
                </a:tc>
                <a:tc>
                  <a:txBody>
                    <a:bodyPr/>
                    <a:lstStyle/>
                    <a:p>
                      <a:pPr>
                        <a:buNone/>
                      </a:pPr>
                      <a:r>
                        <a:rPr lang="en-US" sz="2000" dirty="0">
                          <a:latin typeface="Times New Roman" panose="02020603050405020304" pitchFamily="18" charset="0"/>
                          <a:cs typeface="Times New Roman" panose="02020603050405020304" pitchFamily="18" charset="0"/>
                        </a:rPr>
                        <a:t>Web-based placement portal using HTML, PHP, MySQL</a:t>
                      </a:r>
                    </a:p>
                  </a:txBody>
                  <a:tcPr marT="45725" marB="45725" anchor="ctr"/>
                </a:tc>
                <a:tc>
                  <a:txBody>
                    <a:bodyPr/>
                    <a:lstStyle/>
                    <a:p>
                      <a:pPr>
                        <a:buNone/>
                      </a:pPr>
                      <a:r>
                        <a:rPr lang="en-IN" sz="2000">
                          <a:latin typeface="Times New Roman" panose="02020603050405020304" pitchFamily="18" charset="0"/>
                          <a:cs typeface="Times New Roman" panose="02020603050405020304" pitchFamily="18" charset="0"/>
                        </a:rPr>
                        <a:t>Student academic records</a:t>
                      </a:r>
                    </a:p>
                  </a:txBody>
                  <a:tcPr marT="45725" marB="45725" anchor="ctr"/>
                </a:tc>
                <a:tc>
                  <a:txBody>
                    <a:bodyPr/>
                    <a:lstStyle/>
                    <a:p>
                      <a:pPr>
                        <a:buNone/>
                      </a:pPr>
                      <a:r>
                        <a:rPr lang="en-US" sz="2000">
                          <a:latin typeface="Times New Roman" panose="02020603050405020304" pitchFamily="18" charset="0"/>
                          <a:cs typeface="Times New Roman" panose="02020603050405020304" pitchFamily="18" charset="0"/>
                        </a:rPr>
                        <a:t>Improved placement communication and centralized data</a:t>
                      </a:r>
                    </a:p>
                  </a:txBody>
                  <a:tcPr marT="45725" marB="45725" anchor="ctr"/>
                </a:tc>
                <a:tc>
                  <a:txBody>
                    <a:bodyPr/>
                    <a:lstStyle/>
                    <a:p>
                      <a:pPr>
                        <a:buNone/>
                      </a:pPr>
                      <a:r>
                        <a:rPr lang="en-IN" sz="2000">
                          <a:latin typeface="Times New Roman" panose="02020603050405020304" pitchFamily="18" charset="0"/>
                          <a:cs typeface="Times New Roman" panose="02020603050405020304" pitchFamily="18" charset="0"/>
                        </a:rPr>
                        <a:t>Limited automation and analytics</a:t>
                      </a:r>
                    </a:p>
                  </a:txBody>
                  <a:tcPr marT="45725" marB="45725" anchor="ctr"/>
                </a:tc>
                <a:extLst>
                  <a:ext uri="{0D108BD9-81ED-4DB2-BD59-A6C34878D82A}">
                    <a16:rowId xmlns:a16="http://schemas.microsoft.com/office/drawing/2014/main" val="10001"/>
                  </a:ext>
                </a:extLst>
              </a:tr>
              <a:tr h="1301139">
                <a:tc>
                  <a:txBody>
                    <a:bodyPr/>
                    <a:lstStyle/>
                    <a:p>
                      <a:pPr>
                        <a:buNone/>
                      </a:pPr>
                      <a:r>
                        <a:rPr lang="da-DK" sz="2000">
                          <a:latin typeface="Times New Roman" panose="02020603050405020304" pitchFamily="18" charset="0"/>
                          <a:cs typeface="Times New Roman" panose="02020603050405020304" pitchFamily="18" charset="0"/>
                        </a:rPr>
                        <a:t>Kumar et al., 2020 [2]</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Cloud-based placement management system</a:t>
                      </a:r>
                    </a:p>
                  </a:txBody>
                  <a:tcPr marT="45725" marB="45725" anchor="ctr"/>
                </a:tc>
                <a:tc>
                  <a:txBody>
                    <a:bodyPr/>
                    <a:lstStyle/>
                    <a:p>
                      <a:pPr>
                        <a:buNone/>
                      </a:pPr>
                      <a:r>
                        <a:rPr lang="en-US" sz="2000" dirty="0">
                          <a:latin typeface="Times New Roman" panose="02020603050405020304" pitchFamily="18" charset="0"/>
                          <a:cs typeface="Times New Roman" panose="02020603050405020304" pitchFamily="18" charset="0"/>
                        </a:rPr>
                        <a:t>Student profiles and recruiter data</a:t>
                      </a:r>
                    </a:p>
                  </a:txBody>
                  <a:tcPr marT="45725" marB="45725" anchor="ctr"/>
                </a:tc>
                <a:tc>
                  <a:txBody>
                    <a:bodyPr/>
                    <a:lstStyle/>
                    <a:p>
                      <a:pPr>
                        <a:buNone/>
                      </a:pPr>
                      <a:r>
                        <a:rPr lang="en-US" sz="2000">
                          <a:latin typeface="Times New Roman" panose="02020603050405020304" pitchFamily="18" charset="0"/>
                          <a:cs typeface="Times New Roman" panose="02020603050405020304" pitchFamily="18" charset="0"/>
                        </a:rPr>
                        <a:t>Faster data access and remote usability</a:t>
                      </a:r>
                    </a:p>
                  </a:txBody>
                  <a:tcPr marT="45725" marB="45725" anchor="ctr"/>
                </a:tc>
                <a:tc>
                  <a:txBody>
                    <a:bodyPr/>
                    <a:lstStyle/>
                    <a:p>
                      <a:pPr>
                        <a:buNone/>
                      </a:pPr>
                      <a:r>
                        <a:rPr lang="en-US" sz="2000">
                          <a:latin typeface="Times New Roman" panose="02020603050405020304" pitchFamily="18" charset="0"/>
                          <a:cs typeface="Times New Roman" panose="02020603050405020304" pitchFamily="18" charset="0"/>
                        </a:rPr>
                        <a:t>Security concerns and limited customization</a:t>
                      </a:r>
                    </a:p>
                  </a:txBody>
                  <a:tcPr marT="45725" marB="45725" anchor="ctr"/>
                </a:tc>
                <a:extLst>
                  <a:ext uri="{0D108BD9-81ED-4DB2-BD59-A6C34878D82A}">
                    <a16:rowId xmlns:a16="http://schemas.microsoft.com/office/drawing/2014/main" val="10002"/>
                  </a:ext>
                </a:extLst>
              </a:tr>
              <a:tr h="1084272">
                <a:tc>
                  <a:txBody>
                    <a:bodyPr/>
                    <a:lstStyle/>
                    <a:p>
                      <a:pPr>
                        <a:buNone/>
                      </a:pPr>
                      <a:r>
                        <a:rPr lang="en-IN" sz="2000">
                          <a:latin typeface="Times New Roman" panose="02020603050405020304" pitchFamily="18" charset="0"/>
                          <a:cs typeface="Times New Roman" panose="02020603050405020304" pitchFamily="18" charset="0"/>
                        </a:rPr>
                        <a:t>Singh &amp; Kaur, 2021 [3]</a:t>
                      </a:r>
                    </a:p>
                  </a:txBody>
                  <a:tcPr marT="45725" marB="45725" anchor="ctr"/>
                </a:tc>
                <a:tc>
                  <a:txBody>
                    <a:bodyPr/>
                    <a:lstStyle/>
                    <a:p>
                      <a:pPr>
                        <a:buNone/>
                      </a:pPr>
                      <a:r>
                        <a:rPr lang="en-US" sz="2000">
                          <a:latin typeface="Times New Roman" panose="02020603050405020304" pitchFamily="18" charset="0"/>
                          <a:cs typeface="Times New Roman" panose="02020603050405020304" pitchFamily="18" charset="0"/>
                        </a:rPr>
                        <a:t>Resume filtering using rule-based algorithms</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Resume database</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Efficient candidate shortlisting</a:t>
                      </a:r>
                    </a:p>
                  </a:txBody>
                  <a:tcPr marT="45725" marB="45725" anchor="ctr"/>
                </a:tc>
                <a:tc>
                  <a:txBody>
                    <a:bodyPr/>
                    <a:lstStyle/>
                    <a:p>
                      <a:pPr>
                        <a:buNone/>
                      </a:pPr>
                      <a:r>
                        <a:rPr lang="en-US" sz="2000" dirty="0">
                          <a:latin typeface="Times New Roman" panose="02020603050405020304" pitchFamily="18" charset="0"/>
                          <a:cs typeface="Times New Roman" panose="02020603050405020304" pitchFamily="18" charset="0"/>
                        </a:rPr>
                        <a:t>Not adaptable to dynamic job requirements</a:t>
                      </a:r>
                    </a:p>
                  </a:txBody>
                  <a:tcPr marT="45725" marB="45725" anchor="ctr"/>
                </a:tc>
                <a:extLst>
                  <a:ext uri="{0D108BD9-81ED-4DB2-BD59-A6C34878D82A}">
                    <a16:rowId xmlns:a16="http://schemas.microsoft.com/office/drawing/2014/main" val="10003"/>
                  </a:ext>
                </a:extLst>
              </a:tr>
              <a:tr h="1084272">
                <a:tc>
                  <a:txBody>
                    <a:bodyPr/>
                    <a:lstStyle/>
                    <a:p>
                      <a:pPr>
                        <a:buNone/>
                      </a:pPr>
                      <a:r>
                        <a:rPr lang="en-IN" sz="2000" dirty="0">
                          <a:latin typeface="Times New Roman" panose="02020603050405020304" pitchFamily="18" charset="0"/>
                          <a:cs typeface="Times New Roman" panose="02020603050405020304" pitchFamily="18" charset="0"/>
                        </a:rPr>
                        <a:t>Reddy et al., 2022 [4]</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Firebase-based real-time placement portal</a:t>
                      </a:r>
                    </a:p>
                  </a:txBody>
                  <a:tcPr marT="45725" marB="45725" anchor="ctr"/>
                </a:tc>
                <a:tc>
                  <a:txBody>
                    <a:bodyPr/>
                    <a:lstStyle/>
                    <a:p>
                      <a:pPr>
                        <a:buNone/>
                      </a:pPr>
                      <a:r>
                        <a:rPr lang="en-US" sz="2000">
                          <a:latin typeface="Times New Roman" panose="02020603050405020304" pitchFamily="18" charset="0"/>
                          <a:cs typeface="Times New Roman" panose="02020603050405020304" pitchFamily="18" charset="0"/>
                        </a:rPr>
                        <a:t>Student and job posting data</a:t>
                      </a:r>
                    </a:p>
                  </a:txBody>
                  <a:tcPr marT="45725" marB="45725" anchor="ctr"/>
                </a:tc>
                <a:tc>
                  <a:txBody>
                    <a:bodyPr/>
                    <a:lstStyle/>
                    <a:p>
                      <a:pPr>
                        <a:buNone/>
                      </a:pPr>
                      <a:r>
                        <a:rPr lang="en-US" sz="2000" dirty="0">
                          <a:latin typeface="Times New Roman" panose="02020603050405020304" pitchFamily="18" charset="0"/>
                          <a:cs typeface="Times New Roman" panose="02020603050405020304" pitchFamily="18" charset="0"/>
                        </a:rPr>
                        <a:t>Real-time updates and easy access</a:t>
                      </a:r>
                    </a:p>
                  </a:txBody>
                  <a:tcPr marT="45725" marB="45725" anchor="ctr"/>
                </a:tc>
                <a:tc>
                  <a:txBody>
                    <a:bodyPr/>
                    <a:lstStyle/>
                    <a:p>
                      <a:pPr>
                        <a:buNone/>
                      </a:pPr>
                      <a:r>
                        <a:rPr lang="en-IN" sz="2000" dirty="0">
                          <a:latin typeface="Times New Roman" panose="02020603050405020304" pitchFamily="18" charset="0"/>
                          <a:cs typeface="Times New Roman" panose="02020603050405020304" pitchFamily="18" charset="0"/>
                        </a:rPr>
                        <a:t>Dependent on internet connectivity</a:t>
                      </a:r>
                    </a:p>
                  </a:txBody>
                  <a:tcPr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BDAEDF1A-C4DC-451F-E35C-B927513E6D4F}"/>
              </a:ext>
            </a:extLst>
          </p:cNvPr>
          <p:cNvSpPr>
            <a:spLocks noChangeArrowheads="1"/>
          </p:cNvSpPr>
          <p:nvPr/>
        </p:nvSpPr>
        <p:spPr bwMode="auto">
          <a:xfrm>
            <a:off x="71438" y="107950"/>
            <a:ext cx="9937750" cy="9572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4000" b="1" u="sng" dirty="0">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19459" name="Rectangle 2">
            <a:extLst>
              <a:ext uri="{FF2B5EF4-FFF2-40B4-BE49-F238E27FC236}">
                <a16:creationId xmlns:a16="http://schemas.microsoft.com/office/drawing/2014/main" id="{5CB67851-A192-517B-E40C-E68E408EE8D9}"/>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16388" name="TextBox 4">
            <a:extLst>
              <a:ext uri="{FF2B5EF4-FFF2-40B4-BE49-F238E27FC236}">
                <a16:creationId xmlns:a16="http://schemas.microsoft.com/office/drawing/2014/main" id="{337AB22D-7BD2-B568-7490-CF0AE7564DCB}"/>
              </a:ext>
            </a:extLst>
          </p:cNvPr>
          <p:cNvSpPr txBox="1">
            <a:spLocks noChangeArrowheads="1"/>
          </p:cNvSpPr>
          <p:nvPr/>
        </p:nvSpPr>
        <p:spPr bwMode="auto">
          <a:xfrm>
            <a:off x="287784" y="1065213"/>
            <a:ext cx="8783637" cy="5262979"/>
          </a:xfrm>
          <a:prstGeom prst="rect">
            <a:avLst/>
          </a:prstGeom>
          <a:noFill/>
          <a:ln>
            <a:noFill/>
          </a:ln>
        </p:spPr>
        <p:txBody>
          <a:bodyPr>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algn="just"/>
            <a:r>
              <a:rPr lang="en-US" sz="2400" dirty="0">
                <a:latin typeface="Times New Roman" panose="02020603050405020304" pitchFamily="18" charset="0"/>
                <a:cs typeface="Times New Roman" panose="02020603050405020304" pitchFamily="18" charset="0"/>
              </a:rPr>
              <a:t>From the literature survey and real-world observations, the following limitations were identified: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dependency on Google Forms for data collection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duplication and inconsistency in Excel sheets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a centralized application dashboard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time consumption in managing placement activities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Increased chances of human errors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structured role-based access control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automation; many processes still require manual effort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Absence of real-time updates and synchronization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Security and data privacy concerns in cloud-based systems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Poor adaptability to dynamic job requirements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dependency on internet and limited scalability</a:t>
            </a:r>
          </a:p>
          <a:p>
            <a:pPr algn="just"/>
            <a:r>
              <a:rPr lang="en-US" sz="2400" dirty="0">
                <a:latin typeface="Times New Roman" panose="02020603050405020304" pitchFamily="18" charset="0"/>
                <a:cs typeface="Times New Roman" panose="02020603050405020304" pitchFamily="18" charset="0"/>
              </a:rPr>
              <a:t>These limitations are effectively addressed in the proposed system.</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923F80-6398-0EC9-6B64-A891970C2ED2}"/>
              </a:ext>
            </a:extLst>
          </p:cNvPr>
          <p:cNvSpPr>
            <a:spLocks noGrp="1"/>
          </p:cNvSpPr>
          <p:nvPr>
            <p:ph idx="1"/>
          </p:nvPr>
        </p:nvSpPr>
        <p:spPr>
          <a:xfrm>
            <a:off x="132408" y="899517"/>
            <a:ext cx="10080625" cy="7235825"/>
          </a:xfrm>
        </p:spPr>
        <p:txBody>
          <a:bodyPr numCol="1"/>
          <a:lstStyle/>
          <a:p>
            <a:pPr marL="0" lvl="0" indent="0" defTabSz="914400">
              <a:spcBef>
                <a:spcPct val="0"/>
              </a:spcBef>
              <a:buClrTx/>
              <a:buSz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Role-Based Authentication:</a:t>
            </a:r>
            <a:br>
              <a:rPr lang="en-US" altLang="en-US" sz="2400" dirty="0">
                <a:solidFill>
                  <a:schemeClr val="tx1"/>
                </a:solidFill>
                <a:latin typeface="Times New Roman" panose="02020603050405020304" pitchFamily="18" charset="0"/>
                <a:cs typeface="Times New Roman" panose="02020603050405020304" pitchFamily="18" charset="0"/>
              </a:rPr>
            </a:br>
            <a:r>
              <a:rPr lang="en-US" altLang="en-US" sz="2400" dirty="0">
                <a:solidFill>
                  <a:schemeClr val="tx1"/>
                </a:solidFill>
                <a:latin typeface="Times New Roman" panose="02020603050405020304" pitchFamily="18" charset="0"/>
                <a:cs typeface="Times New Roman" panose="02020603050405020304" pitchFamily="18" charset="0"/>
              </a:rPr>
              <a:t>Used to provide different access levels for students and administrators.</a:t>
            </a:r>
          </a:p>
          <a:p>
            <a:pPr marL="0" lvl="0" indent="0" defTabSz="914400">
              <a:spcBef>
                <a:spcPct val="0"/>
              </a:spcBef>
              <a:buClrTx/>
              <a:buSz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Web Technologies (HTML, CSS, JavaScript):</a:t>
            </a:r>
            <a:br>
              <a:rPr lang="en-US" altLang="en-US" sz="2400" dirty="0">
                <a:solidFill>
                  <a:schemeClr val="tx1"/>
                </a:solidFill>
                <a:latin typeface="Times New Roman" panose="02020603050405020304" pitchFamily="18" charset="0"/>
                <a:cs typeface="Times New Roman" panose="02020603050405020304" pitchFamily="18" charset="0"/>
              </a:rPr>
            </a:br>
            <a:r>
              <a:rPr lang="en-US" altLang="en-US" sz="2400" dirty="0">
                <a:solidFill>
                  <a:schemeClr val="tx1"/>
                </a:solidFill>
                <a:latin typeface="Times New Roman" panose="02020603050405020304" pitchFamily="18" charset="0"/>
                <a:cs typeface="Times New Roman" panose="02020603050405020304" pitchFamily="18" charset="0"/>
              </a:rPr>
              <a:t>Used for developing user-friendly and interactive web interfaces.</a:t>
            </a:r>
          </a:p>
          <a:p>
            <a:pPr marL="0" lvl="0" indent="0" defTabSz="914400">
              <a:spcBef>
                <a:spcPct val="0"/>
              </a:spcBef>
              <a:buClrTx/>
              <a:buSzTx/>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Database Management Systems (MySQL):</a:t>
            </a:r>
            <a:br>
              <a:rPr lang="en-US" altLang="en-US" sz="2400" dirty="0">
                <a:solidFill>
                  <a:schemeClr val="tx1"/>
                </a:solidFill>
                <a:latin typeface="Times New Roman" panose="02020603050405020304" pitchFamily="18" charset="0"/>
                <a:cs typeface="Times New Roman" panose="02020603050405020304" pitchFamily="18" charset="0"/>
              </a:rPr>
            </a:br>
            <a:r>
              <a:rPr lang="en-US" altLang="en-US" sz="2400" dirty="0">
                <a:solidFill>
                  <a:schemeClr val="tx1"/>
                </a:solidFill>
                <a:latin typeface="Times New Roman" panose="02020603050405020304" pitchFamily="18" charset="0"/>
                <a:cs typeface="Times New Roman" panose="02020603050405020304" pitchFamily="18" charset="0"/>
              </a:rPr>
              <a:t>Used for storing and managing student, company, and application data.</a:t>
            </a:r>
          </a:p>
          <a:p>
            <a:pPr marL="0" lvl="0" indent="0" defTabSz="914400">
              <a:spcBef>
                <a:spcPct val="0"/>
              </a:spcBef>
              <a:buClrTx/>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439738" lvl="1" indent="0">
              <a:buNone/>
              <a:defRPr/>
            </a:pPr>
            <a:endParaRPr lang="en-IN" sz="2600" dirty="0">
              <a:solidFill>
                <a:schemeClr val="tx1"/>
              </a:solidFill>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A5F929F7-425B-C4CE-78A9-30D3509C84A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5183ECC-C622-5230-44A1-C11923C81917}"/>
              </a:ext>
            </a:extLst>
          </p:cNvPr>
          <p:cNvSpPr txBox="1"/>
          <p:nvPr/>
        </p:nvSpPr>
        <p:spPr>
          <a:xfrm>
            <a:off x="264816" y="251445"/>
            <a:ext cx="9312000" cy="800219"/>
          </a:xfrm>
          <a:prstGeom prst="rect">
            <a:avLst/>
          </a:prstGeom>
          <a:noFill/>
        </p:spPr>
        <p:txBody>
          <a:bodyPr wrap="square" rtlCol="0">
            <a:spAutoFit/>
          </a:bodyPr>
          <a:lstStyle/>
          <a:p>
            <a:pPr algn="just"/>
            <a:r>
              <a:rPr lang="en-IN"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 OF METHODOLOGIES / TECHNIQUES USE</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C645-F577-893C-E8AD-036BD6374D7D}"/>
              </a:ext>
            </a:extLst>
          </p:cNvPr>
          <p:cNvSpPr>
            <a:spLocks noGrp="1"/>
          </p:cNvSpPr>
          <p:nvPr>
            <p:ph type="title"/>
          </p:nvPr>
        </p:nvSpPr>
        <p:spPr>
          <a:xfrm>
            <a:off x="0" y="250825"/>
            <a:ext cx="10080625" cy="1225550"/>
          </a:xfrm>
        </p:spPr>
        <p:txBody>
          <a:bodyPr/>
          <a:lstStyle/>
          <a:p>
            <a:pPr>
              <a:defRPr/>
            </a:pPr>
            <a:r>
              <a:rPr lang="en-IN" altLang="en-US" sz="40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a:t>
            </a:r>
            <a:r>
              <a:rPr lang="en-IN" altLang="en-US" sz="3600" b="1" u="sng" dirty="0">
                <a:solidFill>
                  <a:schemeClr val="tx1"/>
                </a:solidFill>
                <a:effectLst>
                  <a:outerShdw blurRad="38100" dist="38100" dir="2700000" algn="tl">
                    <a:srgbClr val="000000">
                      <a:alpha val="43137"/>
                    </a:srgbClr>
                  </a:outerShdw>
                </a:effectLst>
                <a:latin typeface="Times New Roman" panose="02020603050405020304" pitchFamily="18" charset="0"/>
                <a:ea typeface="+mn-ea"/>
              </a:rPr>
              <a:t>PROBLEM STATEMENT AND OBJECTIVES</a:t>
            </a:r>
            <a:endParaRPr lang="en-IN" sz="3600" b="1" u="sng" dirty="0">
              <a:solidFill>
                <a:schemeClr val="tx1"/>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21507" name="Content Placeholder 2">
            <a:extLst>
              <a:ext uri="{FF2B5EF4-FFF2-40B4-BE49-F238E27FC236}">
                <a16:creationId xmlns:a16="http://schemas.microsoft.com/office/drawing/2014/main" id="{C4C81999-871B-E3BE-2204-94B4F99461D8}"/>
              </a:ext>
            </a:extLst>
          </p:cNvPr>
          <p:cNvSpPr>
            <a:spLocks noGrp="1" noChangeArrowheads="1"/>
          </p:cNvSpPr>
          <p:nvPr>
            <p:ph idx="1"/>
          </p:nvPr>
        </p:nvSpPr>
        <p:spPr>
          <a:xfrm>
            <a:off x="287784" y="1115541"/>
            <a:ext cx="8640763" cy="5616575"/>
          </a:xfrm>
        </p:spPr>
        <p:txBody>
          <a:bodyPr/>
          <a:lstStyle/>
          <a:p>
            <a:pPr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To address the inefficiencies in the existing placement process caused by the use of multiple unintegrated platforms for data collection, storage, and communication, which results in lack of centralized access, difficulty in managing large datasets, and absence of a structured mechanism for tracking student applications and placement activities.</a:t>
            </a:r>
          </a:p>
          <a:p>
            <a:pPr algn="just">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To design and develop a centralized, web-based Student Placement Management System with multi-level role-based access for students, department coordinators, and the TPO, enabling efficient data management, real-time updates, and systematic tracking and monitoring of placement activities across all departments</a:t>
            </a:r>
            <a:r>
              <a:rPr lang="en-US" sz="2400" dirty="0">
                <a:solidFill>
                  <a:schemeClr val="tx1"/>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1C4A8AA-DE32-5B5E-EBF6-68BFF98FED00}"/>
              </a:ext>
            </a:extLst>
          </p:cNvPr>
          <p:cNvSpPr>
            <a:spLocks noChangeArrowheads="1"/>
          </p:cNvSpPr>
          <p:nvPr/>
        </p:nvSpPr>
        <p:spPr bwMode="auto">
          <a:xfrm>
            <a:off x="501650" y="203200"/>
            <a:ext cx="9070975" cy="754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METHODOLOGY</a:t>
            </a:r>
          </a:p>
        </p:txBody>
      </p:sp>
      <p:sp>
        <p:nvSpPr>
          <p:cNvPr id="22531" name="Rectangle 2">
            <a:extLst>
              <a:ext uri="{FF2B5EF4-FFF2-40B4-BE49-F238E27FC236}">
                <a16:creationId xmlns:a16="http://schemas.microsoft.com/office/drawing/2014/main" id="{F52AF29B-6068-295A-3C54-563E9423FDB2}"/>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22532" name="Picture 4">
            <a:extLst>
              <a:ext uri="{FF2B5EF4-FFF2-40B4-BE49-F238E27FC236}">
                <a16:creationId xmlns:a16="http://schemas.microsoft.com/office/drawing/2014/main" id="{526FCC48-7B3D-BE86-BBB7-328AEACC5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7263"/>
            <a:ext cx="5073650"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C38D07E7-58EB-C3A7-F73B-3422327B2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0638" y="957263"/>
            <a:ext cx="4981575"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D7B35B-19D1-CF38-E80F-4A59757ED4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964" y="251445"/>
            <a:ext cx="6264696" cy="7056784"/>
          </a:xfrm>
          <a:prstGeom prst="rect">
            <a:avLst/>
          </a:prstGeom>
        </p:spPr>
      </p:pic>
    </p:spTree>
    <p:extLst>
      <p:ext uri="{BB962C8B-B14F-4D97-AF65-F5344CB8AC3E}">
        <p14:creationId xmlns:p14="http://schemas.microsoft.com/office/powerpoint/2010/main" val="349078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23C7DF-5BA7-E8C4-AF78-05CD0B999FB4}"/>
              </a:ext>
            </a:extLst>
          </p:cNvPr>
          <p:cNvSpPr txBox="1"/>
          <p:nvPr/>
        </p:nvSpPr>
        <p:spPr>
          <a:xfrm>
            <a:off x="1079500" y="20638"/>
            <a:ext cx="7273925" cy="708025"/>
          </a:xfrm>
          <a:prstGeom prst="rect">
            <a:avLst/>
          </a:prstGeom>
          <a:noFill/>
        </p:spPr>
        <p:txBody>
          <a:bodyPr>
            <a:spAutoFit/>
          </a:bodyPr>
          <a:lstStyle/>
          <a:p>
            <a:pPr algn="ctr">
              <a:defRPr/>
            </a:pPr>
            <a:r>
              <a:rPr lang="en-US" alt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EXPERIMENTAL SETUP</a:t>
            </a:r>
            <a:endParaRPr lang="en-IN" sz="4000" b="1" u="sng" dirty="0">
              <a:effectLst>
                <a:outerShdw blurRad="38100" dist="38100" dir="2700000" algn="tl">
                  <a:srgbClr val="000000">
                    <a:alpha val="43137"/>
                  </a:srgbClr>
                </a:outerShdw>
              </a:effectLst>
            </a:endParaRPr>
          </a:p>
        </p:txBody>
      </p:sp>
      <p:sp>
        <p:nvSpPr>
          <p:cNvPr id="21507" name="TextBox 4">
            <a:extLst>
              <a:ext uri="{FF2B5EF4-FFF2-40B4-BE49-F238E27FC236}">
                <a16:creationId xmlns:a16="http://schemas.microsoft.com/office/drawing/2014/main" id="{1C7DACF8-6540-58F8-9829-24ACB410EC6F}"/>
              </a:ext>
            </a:extLst>
          </p:cNvPr>
          <p:cNvSpPr txBox="1">
            <a:spLocks noChangeArrowheads="1"/>
          </p:cNvSpPr>
          <p:nvPr/>
        </p:nvSpPr>
        <p:spPr bwMode="auto">
          <a:xfrm>
            <a:off x="215900" y="827088"/>
            <a:ext cx="8783638" cy="5632311"/>
          </a:xfrm>
          <a:prstGeom prst="rect">
            <a:avLst/>
          </a:prstGeom>
          <a:noFill/>
          <a:ln>
            <a:noFill/>
          </a:ln>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defRPr/>
            </a:pPr>
            <a:r>
              <a:rPr lang="en-US" altLang="en-US" sz="2400" b="1" dirty="0">
                <a:latin typeface="Times New Roman" panose="02020603050405020304" pitchFamily="18" charset="0"/>
                <a:cs typeface="Times New Roman" panose="02020603050405020304" pitchFamily="18" charset="0"/>
              </a:rPr>
              <a:t> Hardware Requirements</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Laptop/Desktop</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Minimum 4GB RAM </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Internet connection</a:t>
            </a:r>
          </a:p>
          <a:p>
            <a:pPr algn="just">
              <a:defRPr/>
            </a:pPr>
            <a:r>
              <a:rPr lang="en-US" altLang="en-US" sz="2400" b="1" dirty="0">
                <a:latin typeface="Times New Roman" panose="02020603050405020304" pitchFamily="18" charset="0"/>
                <a:cs typeface="Times New Roman" panose="02020603050405020304" pitchFamily="18" charset="0"/>
              </a:rPr>
              <a:t>Software Requirements</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VS Code</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Google Chrome Browser </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MY SQL Workbench</a:t>
            </a:r>
          </a:p>
          <a:p>
            <a:r>
              <a:rPr lang="en-US" altLang="en-US" sz="2400" b="1" dirty="0">
                <a:latin typeface="Times New Roman" panose="02020603050405020304" pitchFamily="18" charset="0"/>
                <a:cs typeface="Times New Roman" panose="02020603050405020304" pitchFamily="18" charset="0"/>
              </a:rPr>
              <a:t>Dataset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 personal and academic details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Company information (name, role, eligibility criteria)</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Application records of students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Department Coordinator (Admin) details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TPO (Training and Placement Officer) details</a:t>
            </a:r>
          </a:p>
          <a:p>
            <a:pPr algn="just">
              <a:defRPr/>
            </a:pPr>
            <a:endParaRPr lang="en-US"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14A8167-8927-EFCF-FA78-92DADDC1AF4F}"/>
              </a:ext>
            </a:extLst>
          </p:cNvPr>
          <p:cNvSpPr>
            <a:spLocks noChangeArrowheads="1"/>
          </p:cNvSpPr>
          <p:nvPr/>
        </p:nvSpPr>
        <p:spPr bwMode="auto">
          <a:xfrm>
            <a:off x="503238" y="503238"/>
            <a:ext cx="9070975" cy="59690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a:t>
            </a: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5603" name="Rectangle 2">
            <a:extLst>
              <a:ext uri="{FF2B5EF4-FFF2-40B4-BE49-F238E27FC236}">
                <a16:creationId xmlns:a16="http://schemas.microsoft.com/office/drawing/2014/main" id="{5BBF307B-B0EF-1D8D-A874-EEBDA059C32A}"/>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83BF6AE-CB53-5D1C-E3F2-61BFA8AC9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4661"/>
            <a:ext cx="10080625" cy="5670352"/>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B652C7-F26B-1EAE-A6D8-995E58BF3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9065" y="7813"/>
            <a:ext cx="3312368" cy="7551862"/>
          </a:xfrm>
          <a:prstGeom prst="rect">
            <a:avLst/>
          </a:prstGeom>
        </p:spPr>
      </p:pic>
      <p:pic>
        <p:nvPicPr>
          <p:cNvPr id="5" name="Picture 4">
            <a:extLst>
              <a:ext uri="{FF2B5EF4-FFF2-40B4-BE49-F238E27FC236}">
                <a16:creationId xmlns:a16="http://schemas.microsoft.com/office/drawing/2014/main" id="{4F2347D7-DCC7-E5B3-CB69-CF7CABFC4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21" y="7813"/>
            <a:ext cx="3453257" cy="7544050"/>
          </a:xfrm>
          <a:prstGeom prst="rect">
            <a:avLst/>
          </a:prstGeom>
        </p:spPr>
      </p:pic>
      <p:pic>
        <p:nvPicPr>
          <p:cNvPr id="7" name="Picture 6">
            <a:extLst>
              <a:ext uri="{FF2B5EF4-FFF2-40B4-BE49-F238E27FC236}">
                <a16:creationId xmlns:a16="http://schemas.microsoft.com/office/drawing/2014/main" id="{BD914843-54BF-912D-D73D-BAB72256B2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761" y="0"/>
            <a:ext cx="3312368" cy="75518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Content Placeholder 4">
            <a:extLst>
              <a:ext uri="{FF2B5EF4-FFF2-40B4-BE49-F238E27FC236}">
                <a16:creationId xmlns:a16="http://schemas.microsoft.com/office/drawing/2014/main" id="{F3EC9EA4-2CCD-F605-EB9A-3858C6E9E2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 y="0"/>
            <a:ext cx="3168104" cy="7559675"/>
          </a:xfrm>
        </p:spPr>
      </p:pic>
      <p:pic>
        <p:nvPicPr>
          <p:cNvPr id="28675" name="Picture 6">
            <a:extLst>
              <a:ext uri="{FF2B5EF4-FFF2-40B4-BE49-F238E27FC236}">
                <a16:creationId xmlns:a16="http://schemas.microsoft.com/office/drawing/2014/main" id="{490027B9-C0C9-9A3B-9C23-713834FCA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6496" y="-1"/>
            <a:ext cx="3419321" cy="755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F34A500-AB49-45D4-4B85-25F2CB643D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8105" y="0"/>
            <a:ext cx="3528391" cy="75596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47DA0ACD-6CC1-8512-0A40-E2FC18B4D2B8}"/>
              </a:ext>
            </a:extLst>
          </p:cNvPr>
          <p:cNvSpPr>
            <a:spLocks noChangeArrowheads="1"/>
          </p:cNvSpPr>
          <p:nvPr/>
        </p:nvSpPr>
        <p:spPr bwMode="auto">
          <a:xfrm>
            <a:off x="0" y="26988"/>
            <a:ext cx="10080625" cy="741362"/>
          </a:xfrm>
          <a:prstGeom prst="rect">
            <a:avLst/>
          </a:prstGeom>
          <a:noFill/>
          <a:ln>
            <a:noFill/>
          </a:ln>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a:lnSpc>
                <a:spcPct val="150000"/>
              </a:lnSpc>
              <a:buClr>
                <a:srgbClr val="000000"/>
              </a:buClr>
              <a:buSzPct val="100000"/>
              <a:buFont typeface="Times New Roman" panose="02020603050405020304" pitchFamily="18" charset="0"/>
              <a:buNone/>
              <a:defRPr/>
            </a:pPr>
            <a:r>
              <a:rPr lang="en-US" alt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RESULTS &amp; ANALYSIS</a:t>
            </a:r>
          </a:p>
        </p:txBody>
      </p:sp>
      <p:sp>
        <p:nvSpPr>
          <p:cNvPr id="29699" name="Rectangle 2">
            <a:extLst>
              <a:ext uri="{FF2B5EF4-FFF2-40B4-BE49-F238E27FC236}">
                <a16:creationId xmlns:a16="http://schemas.microsoft.com/office/drawing/2014/main" id="{A783A317-6F08-8CC5-E9BE-C618359C858D}"/>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4580" name="Rectangle 4">
            <a:extLst>
              <a:ext uri="{FF2B5EF4-FFF2-40B4-BE49-F238E27FC236}">
                <a16:creationId xmlns:a16="http://schemas.microsoft.com/office/drawing/2014/main" id="{6B2A6ED3-E932-6201-5D5A-0E105EA1F5AA}"/>
              </a:ext>
            </a:extLst>
          </p:cNvPr>
          <p:cNvSpPr>
            <a:spLocks noChangeArrowheads="1"/>
          </p:cNvSpPr>
          <p:nvPr/>
        </p:nvSpPr>
        <p:spPr bwMode="auto">
          <a:xfrm>
            <a:off x="-34925" y="612408"/>
            <a:ext cx="10080625" cy="3293209"/>
          </a:xfrm>
          <a:prstGeom prst="rect">
            <a:avLst/>
          </a:prstGeom>
          <a:noFill/>
          <a:ln>
            <a:noFill/>
          </a:ln>
          <a:effec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defRPr/>
            </a:pPr>
            <a:r>
              <a:rPr lang="en-US" altLang="en-US" sz="3200" b="1" u="sng" dirty="0">
                <a:latin typeface="Times New Roman" panose="02020603050405020304" pitchFamily="18" charset="0"/>
                <a:cs typeface="Times New Roman" panose="02020603050405020304" pitchFamily="18" charset="0"/>
              </a:rPr>
              <a:t>Observed Improvements: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Reduced manual effort significantly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Faster communication of placement updates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Centralized data storage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Improved tracking of student applications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Better coordination between departments and TPO</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Efficient placement monitoring</a:t>
            </a:r>
            <a:endParaRPr lang="en-US" altLang="en-US" sz="2400" dirty="0">
              <a:latin typeface="Times New Roman" panose="02020603050405020304" pitchFamily="18" charset="0"/>
              <a:cs typeface="Times New Roman" panose="02020603050405020304" pitchFamily="18" charset="0"/>
            </a:endParaRPr>
          </a:p>
          <a:p>
            <a:pPr>
              <a:defRPr/>
            </a:pPr>
            <a:r>
              <a:rPr lang="en-US" altLang="en-US" sz="3200" b="1" u="sng" dirty="0">
                <a:latin typeface="Times New Roman" panose="02020603050405020304" pitchFamily="18" charset="0"/>
                <a:cs typeface="Times New Roman" panose="02020603050405020304" pitchFamily="18" charset="0"/>
              </a:rPr>
              <a:t>Comparative Analysis</a:t>
            </a:r>
          </a:p>
        </p:txBody>
      </p:sp>
      <p:graphicFrame>
        <p:nvGraphicFramePr>
          <p:cNvPr id="2" name="Table 1">
            <a:extLst>
              <a:ext uri="{FF2B5EF4-FFF2-40B4-BE49-F238E27FC236}">
                <a16:creationId xmlns:a16="http://schemas.microsoft.com/office/drawing/2014/main" id="{8D1AE4E7-4109-82A0-D8BC-747F4D607BFC}"/>
              </a:ext>
            </a:extLst>
          </p:cNvPr>
          <p:cNvGraphicFramePr>
            <a:graphicFrameLocks noGrp="1"/>
          </p:cNvGraphicFramePr>
          <p:nvPr>
            <p:extLst>
              <p:ext uri="{D42A27DB-BD31-4B8C-83A1-F6EECF244321}">
                <p14:modId xmlns:p14="http://schemas.microsoft.com/office/powerpoint/2010/main" val="1279899553"/>
              </p:ext>
            </p:extLst>
          </p:nvPr>
        </p:nvGraphicFramePr>
        <p:xfrm>
          <a:off x="215776" y="3905617"/>
          <a:ext cx="9576717" cy="3486150"/>
        </p:xfrm>
        <a:graphic>
          <a:graphicData uri="http://schemas.openxmlformats.org/drawingml/2006/table">
            <a:tbl>
              <a:tblPr firstRow="1" bandRow="1">
                <a:tableStyleId>{5C22544A-7EE6-4342-B048-85BDC9FD1C3A}</a:tableStyleId>
              </a:tblPr>
              <a:tblGrid>
                <a:gridCol w="3193909">
                  <a:extLst>
                    <a:ext uri="{9D8B030D-6E8A-4147-A177-3AD203B41FA5}">
                      <a16:colId xmlns:a16="http://schemas.microsoft.com/office/drawing/2014/main" val="20000"/>
                    </a:ext>
                  </a:extLst>
                </a:gridCol>
                <a:gridCol w="3191404">
                  <a:extLst>
                    <a:ext uri="{9D8B030D-6E8A-4147-A177-3AD203B41FA5}">
                      <a16:colId xmlns:a16="http://schemas.microsoft.com/office/drawing/2014/main" val="20001"/>
                    </a:ext>
                  </a:extLst>
                </a:gridCol>
                <a:gridCol w="3191404">
                  <a:extLst>
                    <a:ext uri="{9D8B030D-6E8A-4147-A177-3AD203B41FA5}">
                      <a16:colId xmlns:a16="http://schemas.microsoft.com/office/drawing/2014/main" val="20002"/>
                    </a:ext>
                  </a:extLst>
                </a:gridCol>
              </a:tblGrid>
              <a:tr h="581025">
                <a:tc>
                  <a:txBody>
                    <a:bodyPr/>
                    <a:lstStyle/>
                    <a:p>
                      <a:pPr algn="just">
                        <a:buNone/>
                      </a:pPr>
                      <a:r>
                        <a:rPr lang="en-IN" sz="2400" dirty="0">
                          <a:latin typeface="Times New Roman" panose="02020603050405020304" pitchFamily="18" charset="0"/>
                          <a:cs typeface="Times New Roman" panose="02020603050405020304" pitchFamily="18" charset="0"/>
                        </a:rPr>
                        <a:t>Feature</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Manual System</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Proposed System</a:t>
                      </a:r>
                    </a:p>
                  </a:txBody>
                  <a:tcPr marL="91432" marR="91432" marT="45717" marB="45717" anchor="ctr"/>
                </a:tc>
                <a:extLst>
                  <a:ext uri="{0D108BD9-81ED-4DB2-BD59-A6C34878D82A}">
                    <a16:rowId xmlns:a16="http://schemas.microsoft.com/office/drawing/2014/main" val="10000"/>
                  </a:ext>
                </a:extLst>
              </a:tr>
              <a:tr h="581025">
                <a:tc>
                  <a:txBody>
                    <a:bodyPr/>
                    <a:lstStyle/>
                    <a:p>
                      <a:pPr algn="just">
                        <a:buNone/>
                      </a:pPr>
                      <a:r>
                        <a:rPr lang="en-IN" sz="2400" dirty="0">
                          <a:latin typeface="Times New Roman" panose="02020603050405020304" pitchFamily="18" charset="0"/>
                          <a:cs typeface="Times New Roman" panose="02020603050405020304" pitchFamily="18" charset="0"/>
                        </a:rPr>
                        <a:t>Data Collection</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Google Forms</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Integrated Portal</a:t>
                      </a:r>
                    </a:p>
                  </a:txBody>
                  <a:tcPr marL="91432" marR="91432" marT="45717" marB="45717" anchor="ctr"/>
                </a:tc>
                <a:extLst>
                  <a:ext uri="{0D108BD9-81ED-4DB2-BD59-A6C34878D82A}">
                    <a16:rowId xmlns:a16="http://schemas.microsoft.com/office/drawing/2014/main" val="10001"/>
                  </a:ext>
                </a:extLst>
              </a:tr>
              <a:tr h="581025">
                <a:tc>
                  <a:txBody>
                    <a:bodyPr/>
                    <a:lstStyle/>
                    <a:p>
                      <a:pPr algn="just">
                        <a:buNone/>
                      </a:pPr>
                      <a:r>
                        <a:rPr lang="en-IN" sz="2400" dirty="0">
                          <a:latin typeface="Times New Roman" panose="02020603050405020304" pitchFamily="18" charset="0"/>
                          <a:cs typeface="Times New Roman" panose="02020603050405020304" pitchFamily="18" charset="0"/>
                        </a:rPr>
                        <a:t>Data Storage</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Excel Sheets</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Cloud Database</a:t>
                      </a:r>
                    </a:p>
                  </a:txBody>
                  <a:tcPr marL="91432" marR="91432" marT="45717" marB="45717" anchor="ctr"/>
                </a:tc>
                <a:extLst>
                  <a:ext uri="{0D108BD9-81ED-4DB2-BD59-A6C34878D82A}">
                    <a16:rowId xmlns:a16="http://schemas.microsoft.com/office/drawing/2014/main" val="10002"/>
                  </a:ext>
                </a:extLst>
              </a:tr>
              <a:tr h="581025">
                <a:tc>
                  <a:txBody>
                    <a:bodyPr/>
                    <a:lstStyle/>
                    <a:p>
                      <a:pPr algn="just">
                        <a:buNone/>
                      </a:pPr>
                      <a:r>
                        <a:rPr lang="en-IN" sz="2400" dirty="0">
                          <a:latin typeface="Times New Roman" panose="02020603050405020304" pitchFamily="18" charset="0"/>
                          <a:cs typeface="Times New Roman" panose="02020603050405020304" pitchFamily="18" charset="0"/>
                        </a:rPr>
                        <a:t>Company Updates</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WhatsApp</a:t>
                      </a:r>
                    </a:p>
                  </a:txBody>
                  <a:tcPr marL="91432" marR="91432" marT="45717" marB="45717" anchor="ctr"/>
                </a:tc>
                <a:tc>
                  <a:txBody>
                    <a:bodyPr/>
                    <a:lstStyle/>
                    <a:p>
                      <a:pPr algn="just">
                        <a:buNone/>
                      </a:pPr>
                      <a:r>
                        <a:rPr lang="en-IN" sz="2400">
                          <a:latin typeface="Times New Roman" panose="02020603050405020304" pitchFamily="18" charset="0"/>
                          <a:cs typeface="Times New Roman" panose="02020603050405020304" pitchFamily="18" charset="0"/>
                        </a:rPr>
                        <a:t>Real-time Portal</a:t>
                      </a:r>
                    </a:p>
                  </a:txBody>
                  <a:tcPr marL="91432" marR="91432" marT="45717" marB="45717" anchor="ctr"/>
                </a:tc>
                <a:extLst>
                  <a:ext uri="{0D108BD9-81ED-4DB2-BD59-A6C34878D82A}">
                    <a16:rowId xmlns:a16="http://schemas.microsoft.com/office/drawing/2014/main" val="10003"/>
                  </a:ext>
                </a:extLst>
              </a:tr>
              <a:tr h="581025">
                <a:tc>
                  <a:txBody>
                    <a:bodyPr/>
                    <a:lstStyle/>
                    <a:p>
                      <a:pPr algn="just">
                        <a:buNone/>
                      </a:pPr>
                      <a:r>
                        <a:rPr lang="en-IN" sz="2400">
                          <a:latin typeface="Times New Roman" panose="02020603050405020304" pitchFamily="18" charset="0"/>
                          <a:cs typeface="Times New Roman" panose="02020603050405020304" pitchFamily="18" charset="0"/>
                        </a:rPr>
                        <a:t>Eligibility Check</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Manual</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Structured Data</a:t>
                      </a:r>
                    </a:p>
                  </a:txBody>
                  <a:tcPr marL="91432" marR="91432" marT="45717" marB="45717" anchor="ctr"/>
                </a:tc>
                <a:extLst>
                  <a:ext uri="{0D108BD9-81ED-4DB2-BD59-A6C34878D82A}">
                    <a16:rowId xmlns:a16="http://schemas.microsoft.com/office/drawing/2014/main" val="10004"/>
                  </a:ext>
                </a:extLst>
              </a:tr>
              <a:tr h="581025">
                <a:tc>
                  <a:txBody>
                    <a:bodyPr/>
                    <a:lstStyle/>
                    <a:p>
                      <a:pPr algn="just">
                        <a:buNone/>
                      </a:pPr>
                      <a:r>
                        <a:rPr lang="en-IN" sz="2400">
                          <a:latin typeface="Times New Roman" panose="02020603050405020304" pitchFamily="18" charset="0"/>
                          <a:cs typeface="Times New Roman" panose="02020603050405020304" pitchFamily="18" charset="0"/>
                        </a:rPr>
                        <a:t>Tracking</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Difficult</a:t>
                      </a:r>
                    </a:p>
                  </a:txBody>
                  <a:tcPr marL="91432" marR="91432" marT="45717" marB="45717" anchor="ctr"/>
                </a:tc>
                <a:tc>
                  <a:txBody>
                    <a:bodyPr/>
                    <a:lstStyle/>
                    <a:p>
                      <a:pPr algn="just">
                        <a:buNone/>
                      </a:pPr>
                      <a:r>
                        <a:rPr lang="en-IN" sz="2400" dirty="0">
                          <a:latin typeface="Times New Roman" panose="02020603050405020304" pitchFamily="18" charset="0"/>
                          <a:cs typeface="Times New Roman" panose="02020603050405020304" pitchFamily="18" charset="0"/>
                        </a:rPr>
                        <a:t>Automated</a:t>
                      </a:r>
                    </a:p>
                  </a:txBody>
                  <a:tcPr marL="91432" marR="91432" marT="45717" marB="45717" anchor="ctr"/>
                </a:tc>
                <a:extLst>
                  <a:ext uri="{0D108BD9-81ED-4DB2-BD59-A6C34878D82A}">
                    <a16:rowId xmlns:a16="http://schemas.microsoft.com/office/drawing/2014/main" val="10005"/>
                  </a:ext>
                </a:extLst>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AB73624A-6643-1782-E046-208BEDF2174A}"/>
              </a:ext>
            </a:extLst>
          </p:cNvPr>
          <p:cNvSpPr>
            <a:spLocks noChangeArrowheads="1"/>
          </p:cNvSpPr>
          <p:nvPr/>
        </p:nvSpPr>
        <p:spPr bwMode="auto">
          <a:xfrm>
            <a:off x="503238" y="19050"/>
            <a:ext cx="9070975" cy="596900"/>
          </a:xfrm>
          <a:prstGeom prst="rect">
            <a:avLst/>
          </a:prstGeom>
          <a:noFill/>
          <a:ln>
            <a:noFill/>
          </a:ln>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Clr>
                <a:srgbClr val="000000"/>
              </a:buClr>
              <a:buSzPct val="100000"/>
              <a:buFont typeface="Times New Roman" panose="02020603050405020304" pitchFamily="18" charset="0"/>
              <a:buNone/>
              <a:defRPr/>
            </a:pPr>
            <a:r>
              <a:rPr lang="en-US" alt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AND FUTURE WORK</a:t>
            </a:r>
          </a:p>
        </p:txBody>
      </p:sp>
      <p:sp>
        <p:nvSpPr>
          <p:cNvPr id="31747" name="Rectangle 2">
            <a:extLst>
              <a:ext uri="{FF2B5EF4-FFF2-40B4-BE49-F238E27FC236}">
                <a16:creationId xmlns:a16="http://schemas.microsoft.com/office/drawing/2014/main" id="{88A85808-7EF2-F5F8-D7BD-A1C79CBBB1D7}"/>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6628" name="Rectangle 4">
            <a:extLst>
              <a:ext uri="{FF2B5EF4-FFF2-40B4-BE49-F238E27FC236}">
                <a16:creationId xmlns:a16="http://schemas.microsoft.com/office/drawing/2014/main" id="{6F87C6C3-8185-487D-2D3C-D2351B6A04BA}"/>
              </a:ext>
            </a:extLst>
          </p:cNvPr>
          <p:cNvSpPr>
            <a:spLocks noChangeArrowheads="1"/>
          </p:cNvSpPr>
          <p:nvPr/>
        </p:nvSpPr>
        <p:spPr bwMode="auto">
          <a:xfrm>
            <a:off x="503238" y="779017"/>
            <a:ext cx="8710612" cy="6001643"/>
          </a:xfrm>
          <a:prstGeom prst="rect">
            <a:avLst/>
          </a:prstGeom>
          <a:noFill/>
          <a:ln>
            <a:noFill/>
          </a:ln>
          <a:effectLst/>
        </p:spPr>
        <p:txBody>
          <a:bodyPr anchor="ct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defRPr/>
            </a:pPr>
            <a:r>
              <a:rPr lang="en-US" altLang="en-US" sz="2400" dirty="0">
                <a:latin typeface="Times New Roman" panose="02020603050405020304" pitchFamily="18" charset="0"/>
                <a:cs typeface="Times New Roman" panose="02020603050405020304" pitchFamily="18" charset="0"/>
              </a:rPr>
              <a:t>The Student Placement Management System successfully replaces manual processes such as Google Forms, Excel sheets, and WhatsApp communication with a centralized web-based platform. The system improves transparency, reduces manual effort, enhances data security, and contributes towards digital transformation in education management.</a:t>
            </a:r>
          </a:p>
          <a:p>
            <a:pPr algn="just">
              <a:defRPr/>
            </a:pPr>
            <a:endParaRPr lang="en-US" altLang="en-US" sz="2400" dirty="0">
              <a:latin typeface="Times New Roman" panose="02020603050405020304" pitchFamily="18" charset="0"/>
              <a:cs typeface="Times New Roman" panose="02020603050405020304" pitchFamily="18" charset="0"/>
            </a:endParaRPr>
          </a:p>
          <a:p>
            <a:pPr algn="just">
              <a:defRPr/>
            </a:pPr>
            <a:r>
              <a:rPr lang="en-US"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Automatic eligibility filtering</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Email notification system</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Dashboard analytics</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Mobile responsive version</a:t>
            </a:r>
          </a:p>
          <a:p>
            <a:pPr marL="342900" indent="-342900" algn="just">
              <a:buFont typeface="Arial" panose="020B0604020202020204" pitchFamily="34" charset="0"/>
              <a:buChar char="•"/>
              <a:defRPr/>
            </a:pPr>
            <a:r>
              <a:rPr lang="en-US" altLang="en-US" sz="2400" dirty="0">
                <a:latin typeface="Times New Roman" panose="02020603050405020304" pitchFamily="18" charset="0"/>
                <a:cs typeface="Times New Roman" panose="02020603050405020304" pitchFamily="18" charset="0"/>
              </a:rPr>
              <a:t> Admin shortlisting system</a:t>
            </a:r>
          </a:p>
          <a:p>
            <a:pPr lvl="0" algn="just" defTabSz="914400">
              <a:buFontTx/>
              <a:buChar char="•"/>
            </a:pPr>
            <a:r>
              <a:rPr lang="en-US" altLang="en-US" sz="2400" dirty="0">
                <a:latin typeface="Times New Roman" panose="02020603050405020304" pitchFamily="18" charset="0"/>
                <a:cs typeface="Times New Roman" panose="02020603050405020304" pitchFamily="18" charset="0"/>
              </a:rPr>
              <a:t>    Resume filtering using AI</a:t>
            </a:r>
          </a:p>
          <a:p>
            <a:pPr lvl="0" algn="just" defTabSz="914400">
              <a:buFontTx/>
              <a:buChar char="•"/>
            </a:pPr>
            <a:r>
              <a:rPr lang="en-US" altLang="en-US" sz="2400" dirty="0">
                <a:latin typeface="Times New Roman" panose="02020603050405020304" pitchFamily="18" charset="0"/>
                <a:cs typeface="Times New Roman" panose="02020603050405020304" pitchFamily="18" charset="0"/>
              </a:rPr>
              <a:t>    Company feedback system</a:t>
            </a:r>
          </a:p>
          <a:p>
            <a:pPr marL="342900" indent="-342900">
              <a:buFont typeface="Arial" panose="020B0604020202020204" pitchFamily="34" charset="0"/>
              <a:buChar char="•"/>
              <a:defRPr/>
            </a:pPr>
            <a:endParaRPr lang="en-US" altLang="en-US"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1CE9AD2-FAD9-BFE3-9F1B-E2FBD78B845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06E9832-B28F-E3B2-BB72-CC3687933530}"/>
              </a:ext>
            </a:extLst>
          </p:cNvPr>
          <p:cNvSpPr>
            <a:spLocks noChangeArrowheads="1"/>
          </p:cNvSpPr>
          <p:nvPr/>
        </p:nvSpPr>
        <p:spPr bwMode="auto">
          <a:xfrm>
            <a:off x="287338" y="107950"/>
            <a:ext cx="9070975" cy="84772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33795" name="Rectangle 2">
            <a:extLst>
              <a:ext uri="{FF2B5EF4-FFF2-40B4-BE49-F238E27FC236}">
                <a16:creationId xmlns:a16="http://schemas.microsoft.com/office/drawing/2014/main" id="{727CAD27-1D47-6E58-00DC-D28527F927DE}"/>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8676" name="Content Placeholder 2">
            <a:extLst>
              <a:ext uri="{FF2B5EF4-FFF2-40B4-BE49-F238E27FC236}">
                <a16:creationId xmlns:a16="http://schemas.microsoft.com/office/drawing/2014/main" id="{180DB7D1-ADD4-FA4F-C508-06D4BE35C650}"/>
              </a:ext>
            </a:extLst>
          </p:cNvPr>
          <p:cNvSpPr txBox="1">
            <a:spLocks noChangeArrowheads="1"/>
          </p:cNvSpPr>
          <p:nvPr/>
        </p:nvSpPr>
        <p:spPr bwMode="auto">
          <a:xfrm>
            <a:off x="681038" y="1357313"/>
            <a:ext cx="8677275" cy="5607050"/>
          </a:xfrm>
          <a:prstGeom prst="rect">
            <a:avLst/>
          </a:prstGeom>
          <a:noFill/>
          <a:ln>
            <a:noFill/>
          </a:ln>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lgn="just"/>
            <a:r>
              <a:rPr lang="en-US" sz="2400" dirty="0">
                <a:latin typeface="Times New Roman" panose="02020603050405020304" pitchFamily="18" charset="0"/>
                <a:cs typeface="Times New Roman" panose="02020603050405020304" pitchFamily="18" charset="0"/>
              </a:rPr>
              <a:t>Our project is based on the following resources and technologies:</a:t>
            </a:r>
          </a:p>
          <a:p>
            <a:pPr algn="just"/>
            <a:r>
              <a:rPr lang="en-US" sz="2400" b="1" dirty="0">
                <a:latin typeface="Times New Roman" panose="02020603050405020304" pitchFamily="18" charset="0"/>
                <a:cs typeface="Times New Roman" panose="02020603050405020304" pitchFamily="18" charset="0"/>
              </a:rPr>
              <a:t>MySQL Documentation:</a:t>
            </a:r>
            <a:r>
              <a:rPr lang="en-US" sz="2400" dirty="0">
                <a:latin typeface="Times New Roman" panose="02020603050405020304" pitchFamily="18" charset="0"/>
                <a:cs typeface="Times New Roman" panose="02020603050405020304" pitchFamily="18" charset="0"/>
              </a:rPr>
              <a:t> Used for understanding database design, queries, and data management.</a:t>
            </a:r>
          </a:p>
          <a:p>
            <a:pPr algn="just"/>
            <a:r>
              <a:rPr lang="en-US" sz="2400" b="1" dirty="0">
                <a:latin typeface="Times New Roman" panose="02020603050405020304" pitchFamily="18" charset="0"/>
                <a:cs typeface="Times New Roman" panose="02020603050405020304" pitchFamily="18" charset="0"/>
              </a:rPr>
              <a:t>W3Schools:</a:t>
            </a:r>
            <a:r>
              <a:rPr lang="en-US" sz="2400" dirty="0">
                <a:latin typeface="Times New Roman" panose="02020603050405020304" pitchFamily="18" charset="0"/>
                <a:cs typeface="Times New Roman" panose="02020603050405020304" pitchFamily="18" charset="0"/>
              </a:rPr>
              <a:t> Used for learning HTML, CSS, JavaScript, and MySQL basics.</a:t>
            </a:r>
          </a:p>
          <a:p>
            <a:pPr algn="just"/>
            <a:r>
              <a:rPr lang="en-US" sz="2400" b="1" dirty="0" err="1">
                <a:latin typeface="Times New Roman" panose="02020603050405020304" pitchFamily="18" charset="0"/>
                <a:cs typeface="Times New Roman" panose="02020603050405020304" pitchFamily="18" charset="0"/>
              </a:rPr>
              <a:t>GeeksforGeeks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Used for concepts of database management, SQL queries, and problem-solving techniques.</a:t>
            </a:r>
          </a:p>
          <a:p>
            <a:pPr algn="just"/>
            <a:r>
              <a:rPr lang="en-US" sz="2400" b="1" dirty="0">
                <a:latin typeface="Times New Roman" panose="02020603050405020304" pitchFamily="18" charset="0"/>
                <a:cs typeface="Times New Roman" panose="02020603050405020304" pitchFamily="18" charset="0"/>
              </a:rPr>
              <a:t>MDN Web Docs:</a:t>
            </a:r>
            <a:r>
              <a:rPr lang="en-US" sz="2400" dirty="0">
                <a:latin typeface="Times New Roman" panose="02020603050405020304" pitchFamily="18" charset="0"/>
                <a:cs typeface="Times New Roman" panose="02020603050405020304" pitchFamily="18" charset="0"/>
              </a:rPr>
              <a:t> Used for understanding JavaScript functions, DOM manipulation, and web development concepts.</a:t>
            </a:r>
          </a:p>
          <a:p>
            <a:pPr algn="just"/>
            <a:r>
              <a:rPr lang="en-US" sz="2400" b="1" dirty="0">
                <a:latin typeface="Times New Roman" panose="02020603050405020304" pitchFamily="18" charset="0"/>
                <a:cs typeface="Times New Roman" panose="02020603050405020304" pitchFamily="18" charset="0"/>
              </a:rPr>
              <a:t>College Placement Portals:</a:t>
            </a:r>
            <a:r>
              <a:rPr lang="en-US" sz="2400" dirty="0">
                <a:latin typeface="Times New Roman" panose="02020603050405020304" pitchFamily="18" charset="0"/>
                <a:cs typeface="Times New Roman" panose="02020603050405020304" pitchFamily="18" charset="0"/>
              </a:rPr>
              <a:t> Studied existing systems to understand real-world placement processes and features.</a:t>
            </a:r>
          </a:p>
          <a:p>
            <a:pPr marL="0" indent="0">
              <a:spcBef>
                <a:spcPct val="0"/>
              </a:spcBef>
              <a:buClrTx/>
              <a:buSzTx/>
              <a:buFont typeface="Wingdings 3" panose="05040102010807070707" pitchFamily="18" charset="2"/>
              <a:buNone/>
              <a:defRPr/>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a:extLst>
              <a:ext uri="{FF2B5EF4-FFF2-40B4-BE49-F238E27FC236}">
                <a16:creationId xmlns:a16="http://schemas.microsoft.com/office/drawing/2014/main" id="{7F474F41-EDA1-7A56-B2D2-D5D992133E78}"/>
              </a:ext>
            </a:extLst>
          </p:cNvPr>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4000" b="1">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1387</TotalTime>
  <Words>1192</Words>
  <Application>Microsoft Office PowerPoint</Application>
  <PresentationFormat>Custom</PresentationFormat>
  <Paragraphs>193</Paragraphs>
  <Slides>20</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PROBLEM STATEMENT AND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riyahpatil47@outlook.com</cp:lastModifiedBy>
  <cp:revision>74</cp:revision>
  <cp:lastPrinted>1601-01-01T00:00:00Z</cp:lastPrinted>
  <dcterms:created xsi:type="dcterms:W3CDTF">2017-10-25T08:22:14Z</dcterms:created>
  <dcterms:modified xsi:type="dcterms:W3CDTF">2026-03-19T17:15:01Z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